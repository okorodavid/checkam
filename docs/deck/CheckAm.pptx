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bfbe40e-8b44-9447-af96-5d17a5b7b75d}">
          <p14:sldIdLst>
            <p14:sldId id="256"/>
          </p14:sldIdLst>
        </p14:section>
        <p14:section name="Problem" id="{9cfd634e-174e-53f1-730e-f617b454c3f3}">
          <p14:sldIdLst>
            <p14:sldId id="257"/>
          </p14:sldIdLst>
        </p14:section>
        <p14:section name="Solution" id="{01bee698-57b0-6e9f-63fa-fe208237e777}">
          <p14:sldIdLst>
            <p14:sldId id="258"/>
            <p14:sldId id="259"/>
          </p14:sldIdLst>
        </p14:section>
        <p14:section name="How it works" id="{0430bd85-579a-fd19-e97b-3ab058726efd}">
          <p14:sldIdLst>
            <p14:sldId id="260"/>
          </p14:sldIdLst>
        </p14:section>
        <p14:section name="Sponsor tech" id="{e1b406d1-f178-cb37-3d9d-247b4ce8dd98}">
          <p14:sldIdLst>
            <p14:sldId id="261"/>
            <p14:sldId id="262"/>
            <p14:sldId id="263"/>
          </p14:sldIdLst>
        </p14:section>
        <p14:section name="Build" id="{bb56239c-4f64-7aac-acfc-72e90704325b}">
          <p14:sldIdLst>
            <p14:sldId id="264"/>
            <p14:sldId id="265"/>
          </p14:sldIdLst>
        </p14:section>
        <p14:section name="Next" id="{513ed9b4-fac3-fc3e-3cd7-60d0c80a5e7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CheckAm is a scam checker for Nigerians. You forward it a suspicious message, link or account number on Telegram, WhatsApp or Discord. It investigates and replies with a verdict and the reasons behind it, each tied to its source. Built solo by David Okoro in Enugu.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message my mum got. Messages like it reach millions of Nigerians. The people most targeted are parents, traders and first-time phone users. Telling them to be careful doesn't help. They need someone to look at this exact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forward the message. CheckAm shows Checking at once, then replies with one of four verdicts, two to four reasons each numbered to its source, and what to do now. In family groups it stays quiet unless something looks like a scam.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reply from a live run on Nemotron 3 Ultra. Verdict first. Each reason is numbered to a source: the message check, the official accounts list, the link safety check and the domain record. Then what to do. Asked in Pidgin, it answers in Pidgin.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finds what's checkable, then runs seven evidence sources at once. Every finding gets a number. Nemotron, through Meterless Nightshift, drafts a verdict where every reason must cite finding ids. An evaluator checks the draft and sends problems back for one revision. A safety floor means a blocklisted link or an SEC-named operator can never come out safe. If a provider is down, it falls back down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CheckAm's reference data lives in Zetaris. Public JSON files in the repo are registered as Lightning REST tables and flattened into four views. The bot loads them with SQL over Zetaris's REST API. Zetaris facts ground every 'this isn't the real company' and 'the SEC warned about this' reason. Web data adds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Meterless Nightshift is the primary AI provider. CheckAm calls its OpenAI-compatible runtime and pins a Nemotron-backed route. The NVIDIA key stays inside Nightshift. Meterless Engine H-MEM gives CheckAm memory across sessions and users. It stores only what scammers reuse, never message text. So a scam account reported in Enugu warns someone in Kano the next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is different. Nemotron does the hard part, connecting evidence, but it can't invent any. Reasons without valid evidence ids are dropped, and the evaluator sends weak drafts back. Zetaris holds the facts behind every impersonation reason. H-MEM turns single checks into community memory without keeping anyone's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bot on three channels. Nemotron is the reasoning model, through Meterless Nightshift first, then NVIDIA's API, then Gemini, then offline rules. Zetaris is the data layer. H-MEM is the memory. Privacy: message text is never stored, users are salted hashes, and it never asks for PINs or OTPs.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tests: the OPay loan came back scam. The CBEX pitch came back scam, citing SEC's own warning page. A blocklisted phishing link was caught on two blocklists. A real GTBank message came back looks genuine. A Pidgin NNPC message got a Pidgin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read screenshots and voice notes, add the full FCCPC and CBN lists as more Zetaris tables, a public WhatsApp number, and partnerships with banks and fintechs. Try it now on Telegram at checkamoutbot.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676656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
        <p:nvSpPr>
          <p:cNvPr id="3" name="Text 0"/>
          <p:cNvSpPr/>
          <p:nvPr>
            <p:ph idx="101" type="body" hasCustomPrompt="1"/>
          </p:nvPr>
        </p:nvSpPr>
        <p:spPr>
          <a:xfrm>
            <a:off x="685800" y="2788920"/>
            <a:ext cx="6400800" cy="109728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6766560" cy="1188720"/>
          </a:xfrm>
          <a:prstGeom prst="rect">
            <a:avLst/>
          </a:prstGeom>
          <a:noFill/>
          <a:ln/>
        </p:spPr>
        <p:txBody>
          <a:bodyPr wrap="square" lIns="0" tIns="0" rIns="0" bIns="0" rtlCol="0" anchor="b"/>
          <a:lstStyle/>
          <a:p>
            <a:pPr algn="l" indent="0" marL="0">
              <a:buNone/>
            </a:pPr>
            <a:r>
              <a:rPr lang="en-US" sz="7200" b="1" dirty="0">
                <a:solidFill>
                  <a:schemeClr val="bg1"/>
                </a:solidFill>
              </a:rPr>
              <a:t>CheckAm</a:t>
            </a:r>
            <a:endParaRPr lang="en-US" sz="7200" dirty="0"/>
          </a:p>
        </p:txBody>
      </p:sp>
      <p:sp>
        <p:nvSpPr>
          <p:cNvPr id="3" name="Text 0"/>
          <p:cNvSpPr/>
          <p:nvPr>
            <p:ph idx="101" type="body" hasCustomPrompt="1"/>
          </p:nvPr>
        </p:nvSpPr>
        <p:spPr>
          <a:xfrm>
            <a:off x="685800" y="2788920"/>
            <a:ext cx="6400800" cy="1097280"/>
          </a:xfrm>
          <a:prstGeom prst="rect">
            <a:avLst/>
          </a:prstGeom>
          <a:noFill/>
          <a:ln/>
        </p:spPr>
        <p:txBody>
          <a:bodyPr wrap="square" lIns="0" tIns="0" rIns="0" bIns="0" rtlCol="0" anchor="t"/>
          <a:lstStyle/>
          <a:p>
            <a:pPr algn="l" indent="0" marL="0">
              <a:buNone/>
            </a:pPr>
            <a:r>
              <a:rPr lang="en-US" sz="2400" dirty="0">
                <a:solidFill>
                  <a:schemeClr val="bg1"/>
                </a:solidFill>
              </a:rPr>
              <a:t>Forward a suspicious message. CheckAm tells you if it's a scam, and why.</a:t>
            </a:r>
            <a:endParaRPr lang="en-US" sz="2400" dirty="0"/>
          </a:p>
        </p:txBody>
      </p:sp>
      <p:sp>
        <p:nvSpPr>
          <p:cNvPr id="4" name="text-1"/>
          <p:cNvSpPr txBox="1"/>
          <p:nvPr/>
        </p:nvSpPr>
        <p:spPr>
          <a:xfrm>
            <a:off x="685800" y="4160520"/>
            <a:ext cx="6400800" cy="914400"/>
          </a:xfrm>
          <a:prstGeom prst="rect">
            <a:avLst/>
          </a:prstGeom>
          <a:noFill/>
          <a:ln/>
        </p:spPr>
        <p:txBody>
          <a:bodyPr wrap="square" lIns="0" tIns="0" rIns="0" bIns="0" rtlCol="0" anchor="t"/>
          <a:lstStyle/>
          <a:p>
            <a:pPr indent="0" marL="0">
              <a:buNone/>
            </a:pPr>
            <a:r>
              <a:rPr lang="en-US" sz="1600" b="1" dirty="0">
                <a:solidFill>
                  <a:schemeClr val="accent6"/>
                </a:solidFill>
              </a:rPr>
              <a:t>Open Agent Hackathon 2026</a:t>
            </a:r>
            <a:endParaRPr lang="en-US" sz="1600" dirty="0"/>
          </a:p>
          <a:p>
            <a:pPr indent="0" marL="0">
              <a:buNone/>
            </a:pPr>
            <a:r>
              <a:rPr lang="en-US" sz="1600" dirty="0">
                <a:solidFill>
                  <a:schemeClr val="accent6"/>
                </a:solidFill>
              </a:rPr>
              <a:t>Track 02: The Agent That Can Explain Why</a:t>
            </a:r>
            <a:endParaRPr lang="en-US" sz="1600" dirty="0"/>
          </a:p>
          <a:p>
            <a:pPr indent="0" marL="0">
              <a:buNone/>
            </a:pPr>
            <a:r>
              <a:rPr lang="en-US" sz="1600" dirty="0">
                <a:solidFill>
                  <a:schemeClr val="accent6"/>
                </a:solidFill>
              </a:rPr>
              <a:t>Best use of NVIDIA Nemotron</a:t>
            </a:r>
            <a:endParaRPr lang="en-US" sz="1600" dirty="0"/>
          </a:p>
        </p:txBody>
      </p:sp>
      <p:sp>
        <p:nvSpPr>
          <p:cNvPr id="5" name="text-2"/>
          <p:cNvSpPr txBox="1"/>
          <p:nvPr/>
        </p:nvSpPr>
        <p:spPr>
          <a:xfrm>
            <a:off x="685800" y="5532120"/>
            <a:ext cx="7315200" cy="640080"/>
          </a:xfrm>
          <a:prstGeom prst="rect">
            <a:avLst/>
          </a:prstGeom>
          <a:noFill/>
          <a:ln/>
        </p:spPr>
        <p:txBody>
          <a:bodyPr wrap="square" lIns="0" tIns="0" rIns="0" bIns="0" rtlCol="0" anchor="t"/>
          <a:lstStyle/>
          <a:p>
            <a:pPr indent="0" marL="0">
              <a:buNone/>
            </a:pPr>
            <a:r>
              <a:rPr lang="en-US" sz="1400" dirty="0">
                <a:solidFill>
                  <a:schemeClr val="accent6"/>
                </a:solidFill>
              </a:rPr>
              <a:t>David Okoro · Enugu, Nigeria · solo builder</a:t>
            </a:r>
            <a:endParaRPr lang="en-US" sz="1400" dirty="0"/>
          </a:p>
          <a:p>
            <a:pPr indent="0" marL="0">
              <a:buNone/>
            </a:pPr>
            <a:r>
              <a:rPr lang="en-US" sz="1400" dirty="0">
                <a:solidFill>
                  <a:schemeClr val="accent6"/>
                </a:solidFill>
              </a:rPr>
              <a:t>github.com/Okorodavid/checkam (MIT) · Telegram @checkamoutbot</a:t>
            </a:r>
            <a:endParaRPr lang="en-US" sz="1400" dirty="0"/>
          </a:p>
        </p:txBody>
      </p:sp>
      <p:sp>
        <p:nvSpPr>
          <p:cNvPr id="6" name="verdict-pill-3"/>
          <p:cNvSpPr/>
          <p:nvPr/>
        </p:nvSpPr>
        <p:spPr>
          <a:xfrm>
            <a:off x="8229600" y="1600200"/>
            <a:ext cx="3291840" cy="71323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7" name="verdict-dot-4"/>
          <p:cNvSpPr/>
          <p:nvPr/>
        </p:nvSpPr>
        <p:spPr>
          <a:xfrm>
            <a:off x="8412480" y="1773936"/>
            <a:ext cx="365760" cy="365760"/>
          </a:xfrm>
          <a:prstGeom prst="ellipse">
            <a:avLst/>
          </a:prstGeom>
          <a:solidFill>
            <a:schemeClr val="accent2"/>
          </a:solidFill>
          <a:ln w="12700">
            <a:solidFill>
              <a:schemeClr val="accent2"/>
            </a:solidFill>
            <a:prstDash val="solid"/>
          </a:ln>
        </p:spPr>
      </p:sp>
      <p:sp>
        <p:nvSpPr>
          <p:cNvPr id="8" name="text-5"/>
          <p:cNvSpPr txBox="1"/>
          <p:nvPr/>
        </p:nvSpPr>
        <p:spPr>
          <a:xfrm>
            <a:off x="8961120" y="1600200"/>
            <a:ext cx="2377440" cy="713232"/>
          </a:xfrm>
          <a:prstGeom prst="rect">
            <a:avLst/>
          </a:prstGeom>
          <a:noFill/>
          <a:ln/>
        </p:spPr>
        <p:txBody>
          <a:bodyPr wrap="square" lIns="0" tIns="0" rIns="0" bIns="0" rtlCol="0" anchor="ctr"/>
          <a:lstStyle/>
          <a:p>
            <a:pPr indent="0" marL="0">
              <a:buNone/>
            </a:pPr>
            <a:r>
              <a:rPr lang="en-US" sz="2000" b="1" dirty="0">
                <a:solidFill>
                  <a:schemeClr val="bg1"/>
                </a:solidFill>
              </a:rPr>
              <a:t>Scam</a:t>
            </a:r>
            <a:endParaRPr lang="en-US" sz="2000" dirty="0"/>
          </a:p>
        </p:txBody>
      </p:sp>
      <p:sp>
        <p:nvSpPr>
          <p:cNvPr id="9" name="verdict-pill-6"/>
          <p:cNvSpPr/>
          <p:nvPr/>
        </p:nvSpPr>
        <p:spPr>
          <a:xfrm>
            <a:off x="8229600" y="2569464"/>
            <a:ext cx="3291840" cy="71323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10" name="verdict-dot-7"/>
          <p:cNvSpPr/>
          <p:nvPr/>
        </p:nvSpPr>
        <p:spPr>
          <a:xfrm>
            <a:off x="8412480" y="2743200"/>
            <a:ext cx="365760" cy="365760"/>
          </a:xfrm>
          <a:prstGeom prst="ellipse">
            <a:avLst/>
          </a:prstGeom>
          <a:solidFill>
            <a:schemeClr val="accent3"/>
          </a:solidFill>
          <a:ln w="12700">
            <a:solidFill>
              <a:schemeClr val="accent3"/>
            </a:solidFill>
            <a:prstDash val="solid"/>
          </a:ln>
        </p:spPr>
      </p:sp>
      <p:sp>
        <p:nvSpPr>
          <p:cNvPr id="11" name="text-8"/>
          <p:cNvSpPr txBox="1"/>
          <p:nvPr/>
        </p:nvSpPr>
        <p:spPr>
          <a:xfrm>
            <a:off x="8961120" y="2569464"/>
            <a:ext cx="2377440" cy="713232"/>
          </a:xfrm>
          <a:prstGeom prst="rect">
            <a:avLst/>
          </a:prstGeom>
          <a:noFill/>
          <a:ln/>
        </p:spPr>
        <p:txBody>
          <a:bodyPr wrap="square" lIns="0" tIns="0" rIns="0" bIns="0" rtlCol="0" anchor="ctr"/>
          <a:lstStyle/>
          <a:p>
            <a:pPr indent="0" marL="0">
              <a:buNone/>
            </a:pPr>
            <a:r>
              <a:rPr lang="en-US" sz="2000" b="1" dirty="0">
                <a:solidFill>
                  <a:schemeClr val="bg1"/>
                </a:solidFill>
              </a:rPr>
              <a:t>Likely scam</a:t>
            </a:r>
            <a:endParaRPr lang="en-US" sz="2000" dirty="0"/>
          </a:p>
        </p:txBody>
      </p:sp>
      <p:sp>
        <p:nvSpPr>
          <p:cNvPr id="12" name="verdict-pill-9"/>
          <p:cNvSpPr/>
          <p:nvPr/>
        </p:nvSpPr>
        <p:spPr>
          <a:xfrm>
            <a:off x="8229600" y="3538728"/>
            <a:ext cx="3291840" cy="71323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13" name="verdict-dot-10"/>
          <p:cNvSpPr/>
          <p:nvPr/>
        </p:nvSpPr>
        <p:spPr>
          <a:xfrm>
            <a:off x="8412480" y="3712464"/>
            <a:ext cx="365760" cy="365760"/>
          </a:xfrm>
          <a:prstGeom prst="ellipse">
            <a:avLst/>
          </a:prstGeom>
          <a:solidFill>
            <a:schemeClr val="accent4"/>
          </a:solidFill>
          <a:ln w="12700">
            <a:solidFill>
              <a:schemeClr val="accent4"/>
            </a:solidFill>
            <a:prstDash val="solid"/>
          </a:ln>
        </p:spPr>
      </p:sp>
      <p:sp>
        <p:nvSpPr>
          <p:cNvPr id="14" name="text-11"/>
          <p:cNvSpPr txBox="1"/>
          <p:nvPr/>
        </p:nvSpPr>
        <p:spPr>
          <a:xfrm>
            <a:off x="8961120" y="3538728"/>
            <a:ext cx="2377440" cy="713232"/>
          </a:xfrm>
          <a:prstGeom prst="rect">
            <a:avLst/>
          </a:prstGeom>
          <a:noFill/>
          <a:ln/>
        </p:spPr>
        <p:txBody>
          <a:bodyPr wrap="square" lIns="0" tIns="0" rIns="0" bIns="0" rtlCol="0" anchor="ctr"/>
          <a:lstStyle/>
          <a:p>
            <a:pPr indent="0" marL="0">
              <a:buNone/>
            </a:pPr>
            <a:r>
              <a:rPr lang="en-US" sz="2000" b="1" dirty="0">
                <a:solidFill>
                  <a:schemeClr val="bg1"/>
                </a:solidFill>
              </a:rPr>
              <a:t>Not sure</a:t>
            </a:r>
            <a:endParaRPr lang="en-US" sz="2000" dirty="0"/>
          </a:p>
        </p:txBody>
      </p:sp>
      <p:sp>
        <p:nvSpPr>
          <p:cNvPr id="15" name="verdict-pill-12"/>
          <p:cNvSpPr/>
          <p:nvPr/>
        </p:nvSpPr>
        <p:spPr>
          <a:xfrm>
            <a:off x="8229600" y="4507992"/>
            <a:ext cx="3291840" cy="71323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16" name="verdict-dot-13"/>
          <p:cNvSpPr/>
          <p:nvPr/>
        </p:nvSpPr>
        <p:spPr>
          <a:xfrm>
            <a:off x="8412480" y="4681728"/>
            <a:ext cx="365760" cy="365760"/>
          </a:xfrm>
          <a:prstGeom prst="ellipse">
            <a:avLst/>
          </a:prstGeom>
          <a:solidFill>
            <a:schemeClr val="accent1"/>
          </a:solidFill>
          <a:ln w="12700">
            <a:solidFill>
              <a:schemeClr val="accent1"/>
            </a:solidFill>
            <a:prstDash val="solid"/>
          </a:ln>
        </p:spPr>
      </p:sp>
      <p:sp>
        <p:nvSpPr>
          <p:cNvPr id="17" name="text-14"/>
          <p:cNvSpPr txBox="1"/>
          <p:nvPr/>
        </p:nvSpPr>
        <p:spPr>
          <a:xfrm>
            <a:off x="8961120" y="4507992"/>
            <a:ext cx="2377440" cy="713232"/>
          </a:xfrm>
          <a:prstGeom prst="rect">
            <a:avLst/>
          </a:prstGeom>
          <a:noFill/>
          <a:ln/>
        </p:spPr>
        <p:txBody>
          <a:bodyPr wrap="square" lIns="0" tIns="0" rIns="0" bIns="0" rtlCol="0" anchor="ctr"/>
          <a:lstStyle/>
          <a:p>
            <a:pPr indent="0" marL="0">
              <a:buNone/>
            </a:pPr>
            <a:r>
              <a:rPr lang="en-US" sz="2000" b="1" dirty="0">
                <a:solidFill>
                  <a:schemeClr val="bg1"/>
                </a:solidFill>
              </a:rPr>
              <a:t>Looks genuine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My mum nearly paid a fake loan fee</a:t>
            </a:r>
            <a:endParaRPr lang="en-US" sz="3400" dirty="0"/>
          </a:p>
        </p:txBody>
      </p:sp>
      <p:sp>
        <p:nvSpPr>
          <p:cNvPr id="3" name="card-15"/>
          <p:cNvSpPr/>
          <p:nvPr/>
        </p:nvSpPr>
        <p:spPr>
          <a:xfrm>
            <a:off x="548640" y="1417320"/>
            <a:ext cx="5212080" cy="2697480"/>
          </a:xfrm>
          <a:prstGeom prst="roundRect">
            <a:avLst>
              <a:gd name="adj" fmla="val 8475"/>
            </a:avLst>
          </a:prstGeom>
          <a:solidFill>
            <a:schemeClr val="bg2"/>
          </a:solidFill>
          <a:ln w="12700">
            <a:solidFill>
              <a:schemeClr val="bg2"/>
            </a:solidFill>
            <a:prstDash val="solid"/>
          </a:ln>
        </p:spPr>
      </p:sp>
      <p:sp>
        <p:nvSpPr>
          <p:cNvPr id="4" name="icon-circle-16"/>
          <p:cNvSpPr/>
          <p:nvPr/>
        </p:nvSpPr>
        <p:spPr>
          <a:xfrm>
            <a:off x="868680" y="1691640"/>
            <a:ext cx="548640" cy="548640"/>
          </a:xfrm>
          <a:prstGeom prst="ellipse">
            <a:avLst/>
          </a:prstGeom>
          <a:solidFill>
            <a:srgbClr val="5E6E66"/>
          </a:solidFill>
          <a:ln w="12700">
            <a:solidFill>
              <a:srgbClr val="5E6E66"/>
            </a:solidFill>
            <a:prstDash val="solid"/>
          </a:ln>
        </p:spPr>
      </p:sp>
      <p:pic>
        <p:nvPicPr>
          <p:cNvPr id="5" name="icon-FaCommentDots-17" descr="preencoded.png">    </p:cNvPr>
          <p:cNvPicPr>
            <a:picLocks noChangeAspect="1"/>
          </p:cNvPicPr>
          <p:nvPr/>
        </p:nvPicPr>
        <p:blipFill>
          <a:blip r:embed="rId1"/>
          <a:stretch>
            <a:fillRect/>
          </a:stretch>
        </p:blipFill>
        <p:spPr>
          <a:xfrm>
            <a:off x="1005840" y="1828800"/>
            <a:ext cx="274320" cy="274320"/>
          </a:xfrm>
          <a:prstGeom prst="rect">
            <a:avLst/>
          </a:prstGeom>
        </p:spPr>
      </p:pic>
      <p:sp>
        <p:nvSpPr>
          <p:cNvPr id="6" name="text-18"/>
          <p:cNvSpPr txBox="1"/>
          <p:nvPr/>
        </p:nvSpPr>
        <p:spPr>
          <a:xfrm>
            <a:off x="868680" y="2377440"/>
            <a:ext cx="4572000" cy="1554480"/>
          </a:xfrm>
          <a:prstGeom prst="rect">
            <a:avLst/>
          </a:prstGeom>
          <a:noFill/>
          <a:ln/>
        </p:spPr>
        <p:txBody>
          <a:bodyPr wrap="square" lIns="0" tIns="0" rIns="0" bIns="0" rtlCol="0" anchor="t"/>
          <a:lstStyle/>
          <a:p>
            <a:pPr indent="0" marL="0">
              <a:buNone/>
            </a:pPr>
            <a:r>
              <a:rPr lang="en-US" sz="2400" dirty="0">
                <a:solidFill>
                  <a:schemeClr val="tx1"/>
                </a:solidFill>
              </a:rPr>
              <a:t>“Your OPay loan of ₦150,000 is approved. Pay a processing fee of ₦5,000 to unlock it.”</a:t>
            </a:r>
            <a:endParaRPr lang="en-US" sz="2400" dirty="0"/>
          </a:p>
        </p:txBody>
      </p:sp>
      <p:sp>
        <p:nvSpPr>
          <p:cNvPr id="7" name="text-19"/>
          <p:cNvSpPr txBox="1"/>
          <p:nvPr/>
        </p:nvSpPr>
        <p:spPr>
          <a:xfrm>
            <a:off x="548640" y="4434840"/>
            <a:ext cx="5212080" cy="548640"/>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She nearly paid.</a:t>
            </a:r>
            <a:endParaRPr lang="en-US" sz="2400" dirty="0"/>
          </a:p>
        </p:txBody>
      </p:sp>
      <p:sp>
        <p:nvSpPr>
          <p:cNvPr id="8" name="text-20"/>
          <p:cNvSpPr txBox="1"/>
          <p:nvPr/>
        </p:nvSpPr>
        <p:spPr>
          <a:xfrm>
            <a:off x="548640" y="5074920"/>
            <a:ext cx="5212080" cy="914400"/>
          </a:xfrm>
          <a:prstGeom prst="rect">
            <a:avLst/>
          </a:prstGeom>
          <a:noFill/>
          <a:ln/>
        </p:spPr>
        <p:txBody>
          <a:bodyPr wrap="square" lIns="0" tIns="0" rIns="0" bIns="0" rtlCol="0" anchor="t"/>
          <a:lstStyle/>
          <a:p>
            <a:pPr indent="0" marL="0">
              <a:buNone/>
            </a:pPr>
            <a:r>
              <a:rPr lang="en-US" sz="1800" dirty="0">
                <a:solidFill>
                  <a:schemeClr val="tx1"/>
                </a:solidFill>
              </a:rPr>
              <a:t>Fake loans, fake jobs, Ponzi “investments”, fake bank alerts and phishing links reach millions of Nigerians.</a:t>
            </a:r>
            <a:endParaRPr lang="en-US" sz="1800" dirty="0"/>
          </a:p>
        </p:txBody>
      </p:sp>
      <p:sp>
        <p:nvSpPr>
          <p:cNvPr id="9" name="text-21"/>
          <p:cNvSpPr txBox="1"/>
          <p:nvPr/>
        </p:nvSpPr>
        <p:spPr>
          <a:xfrm>
            <a:off x="6400800" y="1417320"/>
            <a:ext cx="5212080" cy="457200"/>
          </a:xfrm>
          <a:prstGeom prst="rect">
            <a:avLst/>
          </a:prstGeom>
          <a:noFill/>
          <a:ln/>
        </p:spPr>
        <p:txBody>
          <a:bodyPr wrap="square" lIns="0" tIns="0" rIns="0" bIns="0" rtlCol="0" anchor="t"/>
          <a:lstStyle/>
          <a:p>
            <a:pPr indent="0" marL="0">
              <a:buNone/>
            </a:pPr>
            <a:r>
              <a:rPr lang="en-US" sz="2000" b="1" dirty="0">
                <a:solidFill>
                  <a:schemeClr val="tx1"/>
                </a:solidFill>
              </a:rPr>
              <a:t>Who gets hit most</a:t>
            </a:r>
            <a:endParaRPr lang="en-US" sz="2000" dirty="0"/>
          </a:p>
        </p:txBody>
      </p:sp>
      <p:sp>
        <p:nvSpPr>
          <p:cNvPr id="10" name="icon-circle-22"/>
          <p:cNvSpPr/>
          <p:nvPr/>
        </p:nvSpPr>
        <p:spPr>
          <a:xfrm>
            <a:off x="6400800" y="2057400"/>
            <a:ext cx="685800" cy="685800"/>
          </a:xfrm>
          <a:prstGeom prst="ellipse">
            <a:avLst/>
          </a:prstGeom>
          <a:solidFill>
            <a:srgbClr val="EDF3EF"/>
          </a:solidFill>
          <a:ln w="12700">
            <a:solidFill>
              <a:srgbClr val="EDF3EF"/>
            </a:solidFill>
            <a:prstDash val="solid"/>
          </a:ln>
        </p:spPr>
      </p:sp>
      <p:pic>
        <p:nvPicPr>
          <p:cNvPr id="11" name="icon-FaPeopleRoof-23" descr="preencoded.png">    </p:cNvPr>
          <p:cNvPicPr>
            <a:picLocks noChangeAspect="1"/>
          </p:cNvPicPr>
          <p:nvPr/>
        </p:nvPicPr>
        <p:blipFill>
          <a:blip r:embed="rId2"/>
          <a:stretch>
            <a:fillRect/>
          </a:stretch>
        </p:blipFill>
        <p:spPr>
          <a:xfrm>
            <a:off x="6572250" y="2228850"/>
            <a:ext cx="342900" cy="342900"/>
          </a:xfrm>
          <a:prstGeom prst="rect">
            <a:avLst/>
          </a:prstGeom>
        </p:spPr>
      </p:pic>
      <p:sp>
        <p:nvSpPr>
          <p:cNvPr id="12" name="text-24"/>
          <p:cNvSpPr txBox="1"/>
          <p:nvPr/>
        </p:nvSpPr>
        <p:spPr>
          <a:xfrm>
            <a:off x="7269480" y="2057400"/>
            <a:ext cx="4297680" cy="685800"/>
          </a:xfrm>
          <a:prstGeom prst="rect">
            <a:avLst/>
          </a:prstGeom>
          <a:noFill/>
          <a:ln/>
        </p:spPr>
        <p:txBody>
          <a:bodyPr wrap="square" lIns="0" tIns="0" rIns="0" bIns="0" rtlCol="0" anchor="ctr"/>
          <a:lstStyle/>
          <a:p>
            <a:pPr indent="0" marL="0">
              <a:buNone/>
            </a:pPr>
            <a:r>
              <a:rPr lang="en-US" sz="2000" dirty="0">
                <a:solidFill>
                  <a:schemeClr val="tx1"/>
                </a:solidFill>
              </a:rPr>
              <a:t>Parents</a:t>
            </a:r>
            <a:endParaRPr lang="en-US" sz="2000" dirty="0"/>
          </a:p>
        </p:txBody>
      </p:sp>
      <p:sp>
        <p:nvSpPr>
          <p:cNvPr id="13" name="icon-circle-25"/>
          <p:cNvSpPr/>
          <p:nvPr/>
        </p:nvSpPr>
        <p:spPr>
          <a:xfrm>
            <a:off x="6400800" y="2971800"/>
            <a:ext cx="685800" cy="685800"/>
          </a:xfrm>
          <a:prstGeom prst="ellipse">
            <a:avLst/>
          </a:prstGeom>
          <a:solidFill>
            <a:srgbClr val="EDF3EF"/>
          </a:solidFill>
          <a:ln w="12700">
            <a:solidFill>
              <a:srgbClr val="EDF3EF"/>
            </a:solidFill>
            <a:prstDash val="solid"/>
          </a:ln>
        </p:spPr>
      </p:sp>
      <p:pic>
        <p:nvPicPr>
          <p:cNvPr id="14" name="icon-FaStore-26" descr="preencoded.png">    </p:cNvPr>
          <p:cNvPicPr>
            <a:picLocks noChangeAspect="1"/>
          </p:cNvPicPr>
          <p:nvPr/>
        </p:nvPicPr>
        <p:blipFill>
          <a:blip r:embed="rId3"/>
          <a:stretch>
            <a:fillRect/>
          </a:stretch>
        </p:blipFill>
        <p:spPr>
          <a:xfrm>
            <a:off x="6572250" y="3143250"/>
            <a:ext cx="342900" cy="342900"/>
          </a:xfrm>
          <a:prstGeom prst="rect">
            <a:avLst/>
          </a:prstGeom>
        </p:spPr>
      </p:pic>
      <p:sp>
        <p:nvSpPr>
          <p:cNvPr id="15" name="text-27"/>
          <p:cNvSpPr txBox="1"/>
          <p:nvPr/>
        </p:nvSpPr>
        <p:spPr>
          <a:xfrm>
            <a:off x="7269480" y="2971800"/>
            <a:ext cx="4297680" cy="685800"/>
          </a:xfrm>
          <a:prstGeom prst="rect">
            <a:avLst/>
          </a:prstGeom>
          <a:noFill/>
          <a:ln/>
        </p:spPr>
        <p:txBody>
          <a:bodyPr wrap="square" lIns="0" tIns="0" rIns="0" bIns="0" rtlCol="0" anchor="ctr"/>
          <a:lstStyle/>
          <a:p>
            <a:pPr indent="0" marL="0">
              <a:buNone/>
            </a:pPr>
            <a:r>
              <a:rPr lang="en-US" sz="2000" dirty="0">
                <a:solidFill>
                  <a:schemeClr val="tx1"/>
                </a:solidFill>
              </a:rPr>
              <a:t>Traders</a:t>
            </a:r>
            <a:endParaRPr lang="en-US" sz="2000" dirty="0"/>
          </a:p>
        </p:txBody>
      </p:sp>
      <p:sp>
        <p:nvSpPr>
          <p:cNvPr id="16" name="icon-circle-28"/>
          <p:cNvSpPr/>
          <p:nvPr/>
        </p:nvSpPr>
        <p:spPr>
          <a:xfrm>
            <a:off x="6400800" y="3886200"/>
            <a:ext cx="685800" cy="685800"/>
          </a:xfrm>
          <a:prstGeom prst="ellipse">
            <a:avLst/>
          </a:prstGeom>
          <a:solidFill>
            <a:srgbClr val="EDF3EF"/>
          </a:solidFill>
          <a:ln w="12700">
            <a:solidFill>
              <a:srgbClr val="EDF3EF"/>
            </a:solidFill>
            <a:prstDash val="solid"/>
          </a:ln>
        </p:spPr>
      </p:sp>
      <p:pic>
        <p:nvPicPr>
          <p:cNvPr id="17" name="icon-FaMobileScreenButton-29" descr="preencoded.png">    </p:cNvPr>
          <p:cNvPicPr>
            <a:picLocks noChangeAspect="1"/>
          </p:cNvPicPr>
          <p:nvPr/>
        </p:nvPicPr>
        <p:blipFill>
          <a:blip r:embed="rId4"/>
          <a:stretch>
            <a:fillRect/>
          </a:stretch>
        </p:blipFill>
        <p:spPr>
          <a:xfrm>
            <a:off x="6572250" y="4057650"/>
            <a:ext cx="342900" cy="342900"/>
          </a:xfrm>
          <a:prstGeom prst="rect">
            <a:avLst/>
          </a:prstGeom>
        </p:spPr>
      </p:pic>
      <p:sp>
        <p:nvSpPr>
          <p:cNvPr id="18" name="text-30"/>
          <p:cNvSpPr txBox="1"/>
          <p:nvPr/>
        </p:nvSpPr>
        <p:spPr>
          <a:xfrm>
            <a:off x="7269480" y="3886200"/>
            <a:ext cx="4297680" cy="685800"/>
          </a:xfrm>
          <a:prstGeom prst="rect">
            <a:avLst/>
          </a:prstGeom>
          <a:noFill/>
          <a:ln/>
        </p:spPr>
        <p:txBody>
          <a:bodyPr wrap="square" lIns="0" tIns="0" rIns="0" bIns="0" rtlCol="0" anchor="ctr"/>
          <a:lstStyle/>
          <a:p>
            <a:pPr indent="0" marL="0">
              <a:buNone/>
            </a:pPr>
            <a:r>
              <a:rPr lang="en-US" sz="2000" dirty="0">
                <a:solidFill>
                  <a:schemeClr val="tx1"/>
                </a:solidFill>
              </a:rPr>
              <a:t>First-time phone users</a:t>
            </a:r>
            <a:endParaRPr lang="en-US" sz="2000" dirty="0"/>
          </a:p>
        </p:txBody>
      </p:sp>
      <p:sp>
        <p:nvSpPr>
          <p:cNvPr id="19" name="card-31"/>
          <p:cNvSpPr/>
          <p:nvPr/>
        </p:nvSpPr>
        <p:spPr>
          <a:xfrm>
            <a:off x="6400800" y="4937760"/>
            <a:ext cx="5239512" cy="1143000"/>
          </a:xfrm>
          <a:prstGeom prst="roundRect">
            <a:avLst>
              <a:gd name="adj" fmla="val 9600"/>
            </a:avLst>
          </a:prstGeom>
          <a:solidFill>
            <a:schemeClr val="tx2"/>
          </a:solidFill>
          <a:ln w="12700">
            <a:solidFill>
              <a:schemeClr val="tx2"/>
            </a:solidFill>
            <a:prstDash val="solid"/>
          </a:ln>
        </p:spPr>
      </p:sp>
      <p:sp>
        <p:nvSpPr>
          <p:cNvPr id="20" name="text-32"/>
          <p:cNvSpPr txBox="1"/>
          <p:nvPr/>
        </p:nvSpPr>
        <p:spPr>
          <a:xfrm>
            <a:off x="6675120" y="4937760"/>
            <a:ext cx="4754880" cy="1143000"/>
          </a:xfrm>
          <a:prstGeom prst="rect">
            <a:avLst/>
          </a:prstGeom>
          <a:noFill/>
          <a:ln/>
        </p:spPr>
        <p:txBody>
          <a:bodyPr wrap="square" lIns="0" tIns="0" rIns="0" bIns="0" rtlCol="0" anchor="ctr"/>
          <a:lstStyle/>
          <a:p>
            <a:pPr indent="0" marL="0">
              <a:buNone/>
            </a:pPr>
            <a:r>
              <a:rPr lang="en-US" sz="1600" dirty="0">
                <a:solidFill>
                  <a:schemeClr val="bg1"/>
                </a:solidFill>
              </a:rPr>
              <a:t>They have no one to ask. When they do ask, they often ask the scammer’s “customer care”.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Forward it to CheckAm. Get a verdict with reasons.</a:t>
            </a:r>
            <a:endParaRPr lang="en-US" sz="3400" dirty="0"/>
          </a:p>
        </p:txBody>
      </p:sp>
      <p:sp>
        <p:nvSpPr>
          <p:cNvPr id="3" name="card-33"/>
          <p:cNvSpPr/>
          <p:nvPr/>
        </p:nvSpPr>
        <p:spPr>
          <a:xfrm>
            <a:off x="548640" y="1417320"/>
            <a:ext cx="3383280" cy="2514600"/>
          </a:xfrm>
          <a:prstGeom prst="roundRect">
            <a:avLst>
              <a:gd name="adj" fmla="val 4364"/>
            </a:avLst>
          </a:prstGeom>
          <a:solidFill>
            <a:schemeClr val="bg2"/>
          </a:solidFill>
          <a:ln w="12700">
            <a:solidFill>
              <a:schemeClr val="bg2"/>
            </a:solidFill>
            <a:prstDash val="solid"/>
          </a:ln>
        </p:spPr>
      </p:sp>
      <p:sp>
        <p:nvSpPr>
          <p:cNvPr id="4" name="text-34"/>
          <p:cNvSpPr txBox="1"/>
          <p:nvPr/>
        </p:nvSpPr>
        <p:spPr>
          <a:xfrm>
            <a:off x="822960" y="1645920"/>
            <a:ext cx="2834640" cy="457200"/>
          </a:xfrm>
          <a:prstGeom prst="rect">
            <a:avLst/>
          </a:prstGeom>
          <a:noFill/>
          <a:ln/>
        </p:spPr>
        <p:txBody>
          <a:bodyPr wrap="square" lIns="0" tIns="0" rIns="0" bIns="0" rtlCol="0" anchor="t"/>
          <a:lstStyle/>
          <a:p>
            <a:pPr indent="0" marL="0">
              <a:buNone/>
            </a:pPr>
            <a:r>
              <a:rPr lang="en-US" sz="2000" b="1" dirty="0">
                <a:solidFill>
                  <a:schemeClr val="tx1"/>
                </a:solidFill>
              </a:rPr>
              <a:t>1  Forward</a:t>
            </a:r>
            <a:endParaRPr lang="en-US" sz="2000" dirty="0"/>
          </a:p>
        </p:txBody>
      </p:sp>
      <p:sp>
        <p:nvSpPr>
          <p:cNvPr id="5" name="icon-circle-35"/>
          <p:cNvSpPr/>
          <p:nvPr/>
        </p:nvSpPr>
        <p:spPr>
          <a:xfrm>
            <a:off x="960120" y="2286000"/>
            <a:ext cx="594360" cy="594360"/>
          </a:xfrm>
          <a:prstGeom prst="ellipse">
            <a:avLst/>
          </a:prstGeom>
          <a:solidFill>
            <a:srgbClr val="FFFFFF"/>
          </a:solidFill>
          <a:ln w="12700">
            <a:solidFill>
              <a:srgbClr val="FFFFFF"/>
            </a:solidFill>
            <a:prstDash val="solid"/>
          </a:ln>
        </p:spPr>
      </p:sp>
      <p:pic>
        <p:nvPicPr>
          <p:cNvPr id="6" name="icon-FaTelegram-36" descr="preencoded.png">    </p:cNvPr>
          <p:cNvPicPr>
            <a:picLocks noChangeAspect="1"/>
          </p:cNvPicPr>
          <p:nvPr/>
        </p:nvPicPr>
        <p:blipFill>
          <a:blip r:embed="rId1"/>
          <a:stretch>
            <a:fillRect/>
          </a:stretch>
        </p:blipFill>
        <p:spPr>
          <a:xfrm>
            <a:off x="1108710" y="2434590"/>
            <a:ext cx="297180" cy="297180"/>
          </a:xfrm>
          <a:prstGeom prst="rect">
            <a:avLst/>
          </a:prstGeom>
        </p:spPr>
      </p:pic>
      <p:sp>
        <p:nvSpPr>
          <p:cNvPr id="7" name="text-37"/>
          <p:cNvSpPr txBox="1"/>
          <p:nvPr/>
        </p:nvSpPr>
        <p:spPr>
          <a:xfrm>
            <a:off x="731520" y="2926080"/>
            <a:ext cx="1051560" cy="274320"/>
          </a:xfrm>
          <a:prstGeom prst="rect">
            <a:avLst/>
          </a:prstGeom>
          <a:noFill/>
          <a:ln/>
        </p:spPr>
        <p:txBody>
          <a:bodyPr wrap="square" lIns="0" tIns="0" rIns="0" bIns="0" rtlCol="0" anchor="t"/>
          <a:lstStyle/>
          <a:p>
            <a:pPr algn="ctr" indent="0" marL="0">
              <a:buNone/>
            </a:pPr>
            <a:r>
              <a:rPr lang="en-US" sz="1200" dirty="0">
                <a:solidFill>
                  <a:schemeClr val="accent5"/>
                </a:solidFill>
              </a:rPr>
              <a:t>Telegram</a:t>
            </a:r>
            <a:endParaRPr lang="en-US" sz="1200" dirty="0"/>
          </a:p>
        </p:txBody>
      </p:sp>
      <p:sp>
        <p:nvSpPr>
          <p:cNvPr id="8" name="icon-circle-38"/>
          <p:cNvSpPr/>
          <p:nvPr/>
        </p:nvSpPr>
        <p:spPr>
          <a:xfrm>
            <a:off x="1965960" y="2286000"/>
            <a:ext cx="594360" cy="594360"/>
          </a:xfrm>
          <a:prstGeom prst="ellipse">
            <a:avLst/>
          </a:prstGeom>
          <a:solidFill>
            <a:srgbClr val="FFFFFF"/>
          </a:solidFill>
          <a:ln w="12700">
            <a:solidFill>
              <a:srgbClr val="FFFFFF"/>
            </a:solidFill>
            <a:prstDash val="solid"/>
          </a:ln>
        </p:spPr>
      </p:sp>
      <p:pic>
        <p:nvPicPr>
          <p:cNvPr id="9" name="icon-FaWhatsapp-39" descr="preencoded.png">    </p:cNvPr>
          <p:cNvPicPr>
            <a:picLocks noChangeAspect="1"/>
          </p:cNvPicPr>
          <p:nvPr/>
        </p:nvPicPr>
        <p:blipFill>
          <a:blip r:embed="rId2"/>
          <a:stretch>
            <a:fillRect/>
          </a:stretch>
        </p:blipFill>
        <p:spPr>
          <a:xfrm>
            <a:off x="2114550" y="2434590"/>
            <a:ext cx="297180" cy="297180"/>
          </a:xfrm>
          <a:prstGeom prst="rect">
            <a:avLst/>
          </a:prstGeom>
        </p:spPr>
      </p:pic>
      <p:sp>
        <p:nvSpPr>
          <p:cNvPr id="10" name="text-40"/>
          <p:cNvSpPr txBox="1"/>
          <p:nvPr/>
        </p:nvSpPr>
        <p:spPr>
          <a:xfrm>
            <a:off x="1737360" y="2926080"/>
            <a:ext cx="1051560" cy="274320"/>
          </a:xfrm>
          <a:prstGeom prst="rect">
            <a:avLst/>
          </a:prstGeom>
          <a:noFill/>
          <a:ln/>
        </p:spPr>
        <p:txBody>
          <a:bodyPr wrap="square" lIns="0" tIns="0" rIns="0" bIns="0" rtlCol="0" anchor="t"/>
          <a:lstStyle/>
          <a:p>
            <a:pPr algn="ctr" indent="0" marL="0">
              <a:buNone/>
            </a:pPr>
            <a:r>
              <a:rPr lang="en-US" sz="1200" dirty="0">
                <a:solidFill>
                  <a:schemeClr val="accent5"/>
                </a:solidFill>
              </a:rPr>
              <a:t>WhatsApp</a:t>
            </a:r>
            <a:endParaRPr lang="en-US" sz="1200" dirty="0"/>
          </a:p>
        </p:txBody>
      </p:sp>
      <p:sp>
        <p:nvSpPr>
          <p:cNvPr id="11" name="icon-circle-41"/>
          <p:cNvSpPr/>
          <p:nvPr/>
        </p:nvSpPr>
        <p:spPr>
          <a:xfrm>
            <a:off x="2971800" y="2286000"/>
            <a:ext cx="594360" cy="594360"/>
          </a:xfrm>
          <a:prstGeom prst="ellipse">
            <a:avLst/>
          </a:prstGeom>
          <a:solidFill>
            <a:srgbClr val="FFFFFF"/>
          </a:solidFill>
          <a:ln w="12700">
            <a:solidFill>
              <a:srgbClr val="FFFFFF"/>
            </a:solidFill>
            <a:prstDash val="solid"/>
          </a:ln>
        </p:spPr>
      </p:sp>
      <p:pic>
        <p:nvPicPr>
          <p:cNvPr id="12" name="icon-FaDiscord-42" descr="preencoded.png">    </p:cNvPr>
          <p:cNvPicPr>
            <a:picLocks noChangeAspect="1"/>
          </p:cNvPicPr>
          <p:nvPr/>
        </p:nvPicPr>
        <p:blipFill>
          <a:blip r:embed="rId3"/>
          <a:stretch>
            <a:fillRect/>
          </a:stretch>
        </p:blipFill>
        <p:spPr>
          <a:xfrm>
            <a:off x="3120390" y="2434590"/>
            <a:ext cx="297180" cy="297180"/>
          </a:xfrm>
          <a:prstGeom prst="rect">
            <a:avLst/>
          </a:prstGeom>
        </p:spPr>
      </p:pic>
      <p:sp>
        <p:nvSpPr>
          <p:cNvPr id="13" name="text-43"/>
          <p:cNvSpPr txBox="1"/>
          <p:nvPr/>
        </p:nvSpPr>
        <p:spPr>
          <a:xfrm>
            <a:off x="2743200" y="2926080"/>
            <a:ext cx="1051560" cy="274320"/>
          </a:xfrm>
          <a:prstGeom prst="rect">
            <a:avLst/>
          </a:prstGeom>
          <a:noFill/>
          <a:ln/>
        </p:spPr>
        <p:txBody>
          <a:bodyPr wrap="square" lIns="0" tIns="0" rIns="0" bIns="0" rtlCol="0" anchor="t"/>
          <a:lstStyle/>
          <a:p>
            <a:pPr algn="ctr" indent="0" marL="0">
              <a:buNone/>
            </a:pPr>
            <a:r>
              <a:rPr lang="en-US" sz="1200" dirty="0">
                <a:solidFill>
                  <a:schemeClr val="accent5"/>
                </a:solidFill>
              </a:rPr>
              <a:t>Discord</a:t>
            </a:r>
            <a:endParaRPr lang="en-US" sz="1200" dirty="0"/>
          </a:p>
        </p:txBody>
      </p:sp>
      <p:sp>
        <p:nvSpPr>
          <p:cNvPr id="14" name="text-44"/>
          <p:cNvSpPr txBox="1"/>
          <p:nvPr/>
        </p:nvSpPr>
        <p:spPr>
          <a:xfrm>
            <a:off x="822960" y="3291840"/>
            <a:ext cx="2834640" cy="548640"/>
          </a:xfrm>
          <a:prstGeom prst="rect">
            <a:avLst/>
          </a:prstGeom>
          <a:noFill/>
          <a:ln/>
        </p:spPr>
        <p:txBody>
          <a:bodyPr wrap="square" lIns="0" tIns="0" rIns="0" bIns="0" rtlCol="0" anchor="t"/>
          <a:lstStyle/>
          <a:p>
            <a:pPr indent="0" marL="0">
              <a:buNone/>
            </a:pPr>
            <a:r>
              <a:rPr lang="en-US" sz="1400" dirty="0">
                <a:solidFill>
                  <a:schemeClr val="tx1"/>
                </a:solidFill>
              </a:rPr>
              <a:t>Any message, link or account number</a:t>
            </a:r>
            <a:endParaRPr lang="en-US" sz="1400" dirty="0"/>
          </a:p>
        </p:txBody>
      </p:sp>
      <p:sp>
        <p:nvSpPr>
          <p:cNvPr id="15" name="card-45"/>
          <p:cNvSpPr/>
          <p:nvPr/>
        </p:nvSpPr>
        <p:spPr>
          <a:xfrm>
            <a:off x="4389120" y="1417320"/>
            <a:ext cx="3383280" cy="2514600"/>
          </a:xfrm>
          <a:prstGeom prst="roundRect">
            <a:avLst>
              <a:gd name="adj" fmla="val 4364"/>
            </a:avLst>
          </a:prstGeom>
          <a:solidFill>
            <a:schemeClr val="bg2"/>
          </a:solidFill>
          <a:ln w="12700">
            <a:solidFill>
              <a:schemeClr val="bg2"/>
            </a:solidFill>
            <a:prstDash val="solid"/>
          </a:ln>
        </p:spPr>
      </p:sp>
      <p:sp>
        <p:nvSpPr>
          <p:cNvPr id="16" name="text-46"/>
          <p:cNvSpPr txBox="1"/>
          <p:nvPr/>
        </p:nvSpPr>
        <p:spPr>
          <a:xfrm>
            <a:off x="4663440" y="1645920"/>
            <a:ext cx="2834640" cy="457200"/>
          </a:xfrm>
          <a:prstGeom prst="rect">
            <a:avLst/>
          </a:prstGeom>
          <a:noFill/>
          <a:ln/>
        </p:spPr>
        <p:txBody>
          <a:bodyPr wrap="square" lIns="0" tIns="0" rIns="0" bIns="0" rtlCol="0" anchor="t"/>
          <a:lstStyle/>
          <a:p>
            <a:pPr indent="0" marL="0">
              <a:buNone/>
            </a:pPr>
            <a:r>
              <a:rPr lang="en-US" sz="2000" b="1" dirty="0">
                <a:solidFill>
                  <a:schemeClr val="tx1"/>
                </a:solidFill>
              </a:rPr>
              <a:t>2  It checks</a:t>
            </a:r>
            <a:endParaRPr lang="en-US" sz="2000" dirty="0"/>
          </a:p>
        </p:txBody>
      </p:sp>
      <p:sp>
        <p:nvSpPr>
          <p:cNvPr id="17" name="checking-bubble-47"/>
          <p:cNvSpPr/>
          <p:nvPr/>
        </p:nvSpPr>
        <p:spPr>
          <a:xfrm>
            <a:off x="4663440" y="2331720"/>
            <a:ext cx="2194560" cy="548640"/>
          </a:xfrm>
          <a:prstGeom prst="roundRect">
            <a:avLst>
              <a:gd name="adj" fmla="val 50000"/>
            </a:avLst>
          </a:prstGeom>
          <a:solidFill>
            <a:schemeClr val="bg1"/>
          </a:solidFill>
          <a:ln w="9525">
            <a:solidFill>
              <a:schemeClr val="accent6"/>
            </a:solidFill>
            <a:prstDash val="solid"/>
          </a:ln>
        </p:spPr>
      </p:sp>
      <p:pic>
        <p:nvPicPr>
          <p:cNvPr id="18" name="icon-search-48" descr="preencoded.png">    </p:cNvPr>
          <p:cNvPicPr>
            <a:picLocks noChangeAspect="1"/>
          </p:cNvPicPr>
          <p:nvPr/>
        </p:nvPicPr>
        <p:blipFill>
          <a:blip r:embed="rId4"/>
          <a:stretch>
            <a:fillRect/>
          </a:stretch>
        </p:blipFill>
        <p:spPr>
          <a:xfrm>
            <a:off x="4846320" y="2468880"/>
            <a:ext cx="274320" cy="274320"/>
          </a:xfrm>
          <a:prstGeom prst="rect">
            <a:avLst/>
          </a:prstGeom>
        </p:spPr>
      </p:pic>
      <p:sp>
        <p:nvSpPr>
          <p:cNvPr id="19" name="text-49"/>
          <p:cNvSpPr txBox="1"/>
          <p:nvPr/>
        </p:nvSpPr>
        <p:spPr>
          <a:xfrm>
            <a:off x="5257800" y="2331720"/>
            <a:ext cx="1463040" cy="548640"/>
          </a:xfrm>
          <a:prstGeom prst="rect">
            <a:avLst/>
          </a:prstGeom>
          <a:noFill/>
          <a:ln/>
        </p:spPr>
        <p:txBody>
          <a:bodyPr wrap="square" lIns="0" tIns="0" rIns="0" bIns="0" rtlCol="0" anchor="ctr"/>
          <a:lstStyle/>
          <a:p>
            <a:pPr indent="0" marL="0">
              <a:buNone/>
            </a:pPr>
            <a:r>
              <a:rPr lang="en-US" sz="1600" dirty="0">
                <a:solidFill>
                  <a:schemeClr val="tx1"/>
                </a:solidFill>
              </a:rPr>
              <a:t>Checking…</a:t>
            </a:r>
            <a:endParaRPr lang="en-US" sz="1600" dirty="0"/>
          </a:p>
        </p:txBody>
      </p:sp>
      <p:sp>
        <p:nvSpPr>
          <p:cNvPr id="20" name="text-50"/>
          <p:cNvSpPr txBox="1"/>
          <p:nvPr/>
        </p:nvSpPr>
        <p:spPr>
          <a:xfrm>
            <a:off x="4663440" y="3291840"/>
            <a:ext cx="2834640" cy="548640"/>
          </a:xfrm>
          <a:prstGeom prst="rect">
            <a:avLst/>
          </a:prstGeom>
          <a:noFill/>
          <a:ln/>
        </p:spPr>
        <p:txBody>
          <a:bodyPr wrap="square" lIns="0" tIns="0" rIns="0" bIns="0" rtlCol="0" anchor="t"/>
          <a:lstStyle/>
          <a:p>
            <a:pPr indent="0" marL="0">
              <a:buNone/>
            </a:pPr>
            <a:r>
              <a:rPr lang="en-US" sz="1400" dirty="0">
                <a:solidFill>
                  <a:schemeClr val="tx1"/>
                </a:solidFill>
              </a:rPr>
              <a:t>Shows up at once, while it investigates</a:t>
            </a:r>
            <a:endParaRPr lang="en-US" sz="1400" dirty="0"/>
          </a:p>
        </p:txBody>
      </p:sp>
      <p:sp>
        <p:nvSpPr>
          <p:cNvPr id="21" name="card-51"/>
          <p:cNvSpPr/>
          <p:nvPr/>
        </p:nvSpPr>
        <p:spPr>
          <a:xfrm>
            <a:off x="8229600" y="1417320"/>
            <a:ext cx="3383280" cy="2514600"/>
          </a:xfrm>
          <a:prstGeom prst="roundRect">
            <a:avLst>
              <a:gd name="adj" fmla="val 4364"/>
            </a:avLst>
          </a:prstGeom>
          <a:solidFill>
            <a:schemeClr val="bg2"/>
          </a:solidFill>
          <a:ln w="12700">
            <a:solidFill>
              <a:schemeClr val="bg2"/>
            </a:solidFill>
            <a:prstDash val="solid"/>
          </a:ln>
        </p:spPr>
      </p:sp>
      <p:sp>
        <p:nvSpPr>
          <p:cNvPr id="22" name="text-52"/>
          <p:cNvSpPr txBox="1"/>
          <p:nvPr/>
        </p:nvSpPr>
        <p:spPr>
          <a:xfrm>
            <a:off x="8503920" y="1645920"/>
            <a:ext cx="2834640" cy="457200"/>
          </a:xfrm>
          <a:prstGeom prst="rect">
            <a:avLst/>
          </a:prstGeom>
          <a:noFill/>
          <a:ln/>
        </p:spPr>
        <p:txBody>
          <a:bodyPr wrap="square" lIns="0" tIns="0" rIns="0" bIns="0" rtlCol="0" anchor="t"/>
          <a:lstStyle/>
          <a:p>
            <a:pPr indent="0" marL="0">
              <a:buNone/>
            </a:pPr>
            <a:r>
              <a:rPr lang="en-US" sz="2000" b="1" dirty="0">
                <a:solidFill>
                  <a:schemeClr val="tx1"/>
                </a:solidFill>
              </a:rPr>
              <a:t>3  It replies</a:t>
            </a:r>
            <a:endParaRPr lang="en-US" sz="2000" dirty="0"/>
          </a:p>
        </p:txBody>
      </p:sp>
      <p:sp>
        <p:nvSpPr>
          <p:cNvPr id="23" name="text-53"/>
          <p:cNvSpPr txBox="1"/>
          <p:nvPr/>
        </p:nvSpPr>
        <p:spPr>
          <a:xfrm>
            <a:off x="8503920" y="2240280"/>
            <a:ext cx="292608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 verdict</a:t>
            </a:r>
            <a:endParaRPr lang="en-US" sz="1600" dirty="0"/>
          </a:p>
          <a:p>
            <a:pPr marL="342900" indent="-342900">
              <a:spcAft>
                <a:spcPts val="600"/>
              </a:spcAft>
              <a:buSzPct val="100000"/>
              <a:buChar char="•"/>
            </a:pPr>
            <a:r>
              <a:rPr lang="en-US" sz="1600" dirty="0">
                <a:solidFill>
                  <a:schemeClr val="tx1"/>
                </a:solidFill>
              </a:rPr>
              <a:t>2–4 reasons, each numbered to its source</a:t>
            </a:r>
            <a:endParaRPr lang="en-US" sz="1600" dirty="0"/>
          </a:p>
          <a:p>
            <a:pPr marL="342900" indent="-342900">
              <a:spcAft>
                <a:spcPts val="600"/>
              </a:spcAft>
              <a:buSzPct val="100000"/>
              <a:buChar char="•"/>
            </a:pPr>
            <a:r>
              <a:rPr lang="en-US" sz="1600" dirty="0">
                <a:solidFill>
                  <a:schemeClr val="tx1"/>
                </a:solidFill>
              </a:rPr>
              <a:t>What to do now</a:t>
            </a:r>
            <a:endParaRPr lang="en-US" sz="1600" dirty="0"/>
          </a:p>
        </p:txBody>
      </p:sp>
      <p:sp>
        <p:nvSpPr>
          <p:cNvPr id="24" name="arrow-54"/>
          <p:cNvSpPr/>
          <p:nvPr/>
        </p:nvSpPr>
        <p:spPr>
          <a:xfrm>
            <a:off x="4005072" y="2674620"/>
            <a:ext cx="310896" cy="914"/>
          </a:xfrm>
          <a:prstGeom prst="line">
            <a:avLst/>
          </a:prstGeom>
          <a:noFill/>
          <a:ln w="22225">
            <a:solidFill>
              <a:schemeClr val="accent5"/>
            </a:solidFill>
            <a:prstDash val="solid"/>
            <a:tailEnd type="triangle"/>
          </a:ln>
        </p:spPr>
      </p:sp>
      <p:sp>
        <p:nvSpPr>
          <p:cNvPr id="25" name="arrow-55"/>
          <p:cNvSpPr/>
          <p:nvPr/>
        </p:nvSpPr>
        <p:spPr>
          <a:xfrm>
            <a:off x="7845552" y="2674620"/>
            <a:ext cx="310896" cy="914"/>
          </a:xfrm>
          <a:prstGeom prst="line">
            <a:avLst/>
          </a:prstGeom>
          <a:noFill/>
          <a:ln w="22225">
            <a:solidFill>
              <a:schemeClr val="accent5"/>
            </a:solidFill>
            <a:prstDash val="solid"/>
            <a:tailEnd type="triangle"/>
          </a:ln>
        </p:spPr>
      </p:sp>
      <p:sp>
        <p:nvSpPr>
          <p:cNvPr id="26" name="verdict-dot-56"/>
          <p:cNvSpPr/>
          <p:nvPr/>
        </p:nvSpPr>
        <p:spPr>
          <a:xfrm>
            <a:off x="548640" y="4343400"/>
            <a:ext cx="384048" cy="384048"/>
          </a:xfrm>
          <a:prstGeom prst="ellipse">
            <a:avLst/>
          </a:prstGeom>
          <a:solidFill>
            <a:schemeClr val="accent2"/>
          </a:solidFill>
          <a:ln w="12700">
            <a:solidFill>
              <a:schemeClr val="accent2"/>
            </a:solidFill>
            <a:prstDash val="solid"/>
          </a:ln>
        </p:spPr>
      </p:sp>
      <p:sp>
        <p:nvSpPr>
          <p:cNvPr id="27" name="text-57"/>
          <p:cNvSpPr txBox="1"/>
          <p:nvPr/>
        </p:nvSpPr>
        <p:spPr>
          <a:xfrm>
            <a:off x="1051560" y="4343400"/>
            <a:ext cx="2103120" cy="384048"/>
          </a:xfrm>
          <a:prstGeom prst="rect">
            <a:avLst/>
          </a:prstGeom>
          <a:noFill/>
          <a:ln/>
        </p:spPr>
        <p:txBody>
          <a:bodyPr wrap="square" lIns="0" tIns="0" rIns="0" bIns="0" rtlCol="0" anchor="ctr"/>
          <a:lstStyle/>
          <a:p>
            <a:pPr indent="0" marL="0">
              <a:buNone/>
            </a:pPr>
            <a:r>
              <a:rPr lang="en-US" sz="1800" b="1" dirty="0">
                <a:solidFill>
                  <a:schemeClr val="tx1"/>
                </a:solidFill>
              </a:rPr>
              <a:t>Scam</a:t>
            </a:r>
            <a:endParaRPr lang="en-US" sz="1800" dirty="0"/>
          </a:p>
        </p:txBody>
      </p:sp>
      <p:sp>
        <p:nvSpPr>
          <p:cNvPr id="28" name="verdict-dot-58"/>
          <p:cNvSpPr/>
          <p:nvPr/>
        </p:nvSpPr>
        <p:spPr>
          <a:xfrm>
            <a:off x="3383280" y="4343400"/>
            <a:ext cx="384048" cy="384048"/>
          </a:xfrm>
          <a:prstGeom prst="ellipse">
            <a:avLst/>
          </a:prstGeom>
          <a:solidFill>
            <a:schemeClr val="accent3"/>
          </a:solidFill>
          <a:ln w="12700">
            <a:solidFill>
              <a:schemeClr val="accent3"/>
            </a:solidFill>
            <a:prstDash val="solid"/>
          </a:ln>
        </p:spPr>
      </p:sp>
      <p:sp>
        <p:nvSpPr>
          <p:cNvPr id="29" name="text-59"/>
          <p:cNvSpPr txBox="1"/>
          <p:nvPr/>
        </p:nvSpPr>
        <p:spPr>
          <a:xfrm>
            <a:off x="3886200" y="4343400"/>
            <a:ext cx="2103120" cy="384048"/>
          </a:xfrm>
          <a:prstGeom prst="rect">
            <a:avLst/>
          </a:prstGeom>
          <a:noFill/>
          <a:ln/>
        </p:spPr>
        <p:txBody>
          <a:bodyPr wrap="square" lIns="0" tIns="0" rIns="0" bIns="0" rtlCol="0" anchor="ctr"/>
          <a:lstStyle/>
          <a:p>
            <a:pPr indent="0" marL="0">
              <a:buNone/>
            </a:pPr>
            <a:r>
              <a:rPr lang="en-US" sz="1800" b="1" dirty="0">
                <a:solidFill>
                  <a:schemeClr val="tx1"/>
                </a:solidFill>
              </a:rPr>
              <a:t>Likely scam</a:t>
            </a:r>
            <a:endParaRPr lang="en-US" sz="1800" dirty="0"/>
          </a:p>
        </p:txBody>
      </p:sp>
      <p:sp>
        <p:nvSpPr>
          <p:cNvPr id="30" name="verdict-dot-60"/>
          <p:cNvSpPr/>
          <p:nvPr/>
        </p:nvSpPr>
        <p:spPr>
          <a:xfrm>
            <a:off x="6217920" y="4343400"/>
            <a:ext cx="384048" cy="384048"/>
          </a:xfrm>
          <a:prstGeom prst="ellipse">
            <a:avLst/>
          </a:prstGeom>
          <a:solidFill>
            <a:schemeClr val="accent4"/>
          </a:solidFill>
          <a:ln w="12700">
            <a:solidFill>
              <a:schemeClr val="accent4"/>
            </a:solidFill>
            <a:prstDash val="solid"/>
          </a:ln>
        </p:spPr>
      </p:sp>
      <p:sp>
        <p:nvSpPr>
          <p:cNvPr id="31" name="text-61"/>
          <p:cNvSpPr txBox="1"/>
          <p:nvPr/>
        </p:nvSpPr>
        <p:spPr>
          <a:xfrm>
            <a:off x="6720840" y="4343400"/>
            <a:ext cx="2103120" cy="384048"/>
          </a:xfrm>
          <a:prstGeom prst="rect">
            <a:avLst/>
          </a:prstGeom>
          <a:noFill/>
          <a:ln/>
        </p:spPr>
        <p:txBody>
          <a:bodyPr wrap="square" lIns="0" tIns="0" rIns="0" bIns="0" rtlCol="0" anchor="ctr"/>
          <a:lstStyle/>
          <a:p>
            <a:pPr indent="0" marL="0">
              <a:buNone/>
            </a:pPr>
            <a:r>
              <a:rPr lang="en-US" sz="1800" b="1" dirty="0">
                <a:solidFill>
                  <a:schemeClr val="tx1"/>
                </a:solidFill>
              </a:rPr>
              <a:t>Not sure</a:t>
            </a:r>
            <a:endParaRPr lang="en-US" sz="1800" dirty="0"/>
          </a:p>
        </p:txBody>
      </p:sp>
      <p:sp>
        <p:nvSpPr>
          <p:cNvPr id="32" name="verdict-dot-62"/>
          <p:cNvSpPr/>
          <p:nvPr/>
        </p:nvSpPr>
        <p:spPr>
          <a:xfrm>
            <a:off x="9052560" y="4343400"/>
            <a:ext cx="384048" cy="384048"/>
          </a:xfrm>
          <a:prstGeom prst="ellipse">
            <a:avLst/>
          </a:prstGeom>
          <a:solidFill>
            <a:schemeClr val="accent1"/>
          </a:solidFill>
          <a:ln w="12700">
            <a:solidFill>
              <a:schemeClr val="accent1"/>
            </a:solidFill>
            <a:prstDash val="solid"/>
          </a:ln>
        </p:spPr>
      </p:sp>
      <p:sp>
        <p:nvSpPr>
          <p:cNvPr id="33" name="text-63"/>
          <p:cNvSpPr txBox="1"/>
          <p:nvPr/>
        </p:nvSpPr>
        <p:spPr>
          <a:xfrm>
            <a:off x="9555480" y="4343400"/>
            <a:ext cx="2103120" cy="384048"/>
          </a:xfrm>
          <a:prstGeom prst="rect">
            <a:avLst/>
          </a:prstGeom>
          <a:noFill/>
          <a:ln/>
        </p:spPr>
        <p:txBody>
          <a:bodyPr wrap="square" lIns="0" tIns="0" rIns="0" bIns="0" rtlCol="0" anchor="ctr"/>
          <a:lstStyle/>
          <a:p>
            <a:pPr indent="0" marL="0">
              <a:buNone/>
            </a:pPr>
            <a:r>
              <a:rPr lang="en-US" sz="1800" b="1" dirty="0">
                <a:solidFill>
                  <a:schemeClr val="tx1"/>
                </a:solidFill>
              </a:rPr>
              <a:t>Looks genuine</a:t>
            </a:r>
            <a:endParaRPr lang="en-US" sz="1800" dirty="0"/>
          </a:p>
        </p:txBody>
      </p:sp>
      <p:sp>
        <p:nvSpPr>
          <p:cNvPr id="34" name="icon-circle-64"/>
          <p:cNvSpPr/>
          <p:nvPr/>
        </p:nvSpPr>
        <p:spPr>
          <a:xfrm>
            <a:off x="548640" y="5166360"/>
            <a:ext cx="640080" cy="640080"/>
          </a:xfrm>
          <a:prstGeom prst="ellipse">
            <a:avLst/>
          </a:prstGeom>
          <a:solidFill>
            <a:srgbClr val="EDF3EF"/>
          </a:solidFill>
          <a:ln w="12700">
            <a:solidFill>
              <a:srgbClr val="EDF3EF"/>
            </a:solidFill>
            <a:prstDash val="solid"/>
          </a:ln>
        </p:spPr>
      </p:sp>
      <p:pic>
        <p:nvPicPr>
          <p:cNvPr id="35" name="icon-FaLanguage-65" descr="preencoded.png">    </p:cNvPr>
          <p:cNvPicPr>
            <a:picLocks noChangeAspect="1"/>
          </p:cNvPicPr>
          <p:nvPr/>
        </p:nvPicPr>
        <p:blipFill>
          <a:blip r:embed="rId5"/>
          <a:stretch>
            <a:fillRect/>
          </a:stretch>
        </p:blipFill>
        <p:spPr>
          <a:xfrm>
            <a:off x="708660" y="5326380"/>
            <a:ext cx="320040" cy="320040"/>
          </a:xfrm>
          <a:prstGeom prst="rect">
            <a:avLst/>
          </a:prstGeom>
        </p:spPr>
      </p:pic>
      <p:sp>
        <p:nvSpPr>
          <p:cNvPr id="36" name="text-66"/>
          <p:cNvSpPr txBox="1"/>
          <p:nvPr/>
        </p:nvSpPr>
        <p:spPr>
          <a:xfrm>
            <a:off x="1371600" y="5166360"/>
            <a:ext cx="4480560" cy="640080"/>
          </a:xfrm>
          <a:prstGeom prst="rect">
            <a:avLst/>
          </a:prstGeom>
          <a:noFill/>
          <a:ln/>
        </p:spPr>
        <p:txBody>
          <a:bodyPr wrap="square" lIns="0" tIns="0" rIns="0" bIns="0" rtlCol="0" anchor="ctr"/>
          <a:lstStyle/>
          <a:p>
            <a:pPr indent="0" marL="0">
              <a:buNone/>
            </a:pPr>
            <a:r>
              <a:rPr lang="en-US" sz="1600" dirty="0">
                <a:solidFill>
                  <a:schemeClr val="tx1"/>
                </a:solidFill>
              </a:rPr>
              <a:t>Replies in the language you wrote in, including Nigerian Pidgin</a:t>
            </a:r>
            <a:endParaRPr lang="en-US" sz="1600" dirty="0"/>
          </a:p>
        </p:txBody>
      </p:sp>
      <p:sp>
        <p:nvSpPr>
          <p:cNvPr id="37" name="icon-circle-67"/>
          <p:cNvSpPr/>
          <p:nvPr/>
        </p:nvSpPr>
        <p:spPr>
          <a:xfrm>
            <a:off x="6263640" y="5166360"/>
            <a:ext cx="640080" cy="640080"/>
          </a:xfrm>
          <a:prstGeom prst="ellipse">
            <a:avLst/>
          </a:prstGeom>
          <a:solidFill>
            <a:srgbClr val="EDF3EF"/>
          </a:solidFill>
          <a:ln w="12700">
            <a:solidFill>
              <a:srgbClr val="EDF3EF"/>
            </a:solidFill>
            <a:prstDash val="solid"/>
          </a:ln>
        </p:spPr>
      </p:sp>
      <p:pic>
        <p:nvPicPr>
          <p:cNvPr id="38" name="icon-FaUsers-68" descr="preencoded.png">    </p:cNvPr>
          <p:cNvPicPr>
            <a:picLocks noChangeAspect="1"/>
          </p:cNvPicPr>
          <p:nvPr/>
        </p:nvPicPr>
        <p:blipFill>
          <a:blip r:embed="rId6"/>
          <a:stretch>
            <a:fillRect/>
          </a:stretch>
        </p:blipFill>
        <p:spPr>
          <a:xfrm>
            <a:off x="6423660" y="5326380"/>
            <a:ext cx="320040" cy="320040"/>
          </a:xfrm>
          <a:prstGeom prst="rect">
            <a:avLst/>
          </a:prstGeom>
        </p:spPr>
      </p:pic>
      <p:sp>
        <p:nvSpPr>
          <p:cNvPr id="39" name="text-69"/>
          <p:cNvSpPr txBox="1"/>
          <p:nvPr/>
        </p:nvSpPr>
        <p:spPr>
          <a:xfrm>
            <a:off x="7086600" y="5166360"/>
            <a:ext cx="4526280" cy="640080"/>
          </a:xfrm>
          <a:prstGeom prst="rect">
            <a:avLst/>
          </a:prstGeom>
          <a:noFill/>
          <a:ln/>
        </p:spPr>
        <p:txBody>
          <a:bodyPr wrap="square" lIns="0" tIns="0" rIns="0" bIns="0" rtlCol="0" anchor="ctr"/>
          <a:lstStyle/>
          <a:p>
            <a:pPr indent="0" marL="0">
              <a:buNone/>
            </a:pPr>
            <a:r>
              <a:rPr lang="en-US" sz="1600" dirty="0">
                <a:solidFill>
                  <a:schemeClr val="tx1"/>
                </a:solidFill>
              </a:rPr>
              <a:t>In groups, it stays quiet unless something looks like a scam</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A real reply from a live run on Nemotron 3 Ultra</a:t>
            </a:r>
            <a:endParaRPr lang="en-US" sz="3400" dirty="0"/>
          </a:p>
        </p:txBody>
      </p:sp>
      <p:sp>
        <p:nvSpPr>
          <p:cNvPr id="3" name="phone-frame-70"/>
          <p:cNvSpPr/>
          <p:nvPr/>
        </p:nvSpPr>
        <p:spPr>
          <a:xfrm>
            <a:off x="548640" y="1188720"/>
            <a:ext cx="4846320" cy="5440680"/>
          </a:xfrm>
          <a:prstGeom prst="roundRect">
            <a:avLst>
              <a:gd name="adj" fmla="val 6604"/>
            </a:avLst>
          </a:prstGeom>
          <a:solidFill>
            <a:schemeClr val="tx2"/>
          </a:solidFill>
          <a:ln w="12700">
            <a:solidFill>
              <a:schemeClr val="tx2"/>
            </a:solidFill>
            <a:prstDash val="solid"/>
          </a:ln>
        </p:spPr>
      </p:sp>
      <p:sp>
        <p:nvSpPr>
          <p:cNvPr id="4" name="phone-screen-71"/>
          <p:cNvSpPr/>
          <p:nvPr/>
        </p:nvSpPr>
        <p:spPr>
          <a:xfrm>
            <a:off x="676656" y="1316736"/>
            <a:ext cx="4590288" cy="5184648"/>
          </a:xfrm>
          <a:prstGeom prst="roundRect">
            <a:avLst>
              <a:gd name="adj" fmla="val 4781"/>
            </a:avLst>
          </a:prstGeom>
          <a:solidFill>
            <a:schemeClr val="bg2"/>
          </a:solidFill>
          <a:ln w="12700">
            <a:solidFill>
              <a:schemeClr val="bg2"/>
            </a:solidFill>
            <a:prstDash val="solid"/>
          </a:ln>
        </p:spPr>
      </p:sp>
      <p:sp>
        <p:nvSpPr>
          <p:cNvPr id="5" name="avatar-72"/>
          <p:cNvSpPr/>
          <p:nvPr/>
        </p:nvSpPr>
        <p:spPr>
          <a:xfrm>
            <a:off x="859536" y="1426464"/>
            <a:ext cx="365760" cy="365760"/>
          </a:xfrm>
          <a:prstGeom prst="ellipse">
            <a:avLst/>
          </a:prstGeom>
          <a:solidFill>
            <a:schemeClr val="accent1"/>
          </a:solidFill>
          <a:ln w="12700">
            <a:solidFill>
              <a:schemeClr val="accent1"/>
            </a:solidFill>
            <a:prstDash val="solid"/>
          </a:ln>
        </p:spPr>
      </p:sp>
      <p:sp>
        <p:nvSpPr>
          <p:cNvPr id="6" name="text-73"/>
          <p:cNvSpPr txBox="1"/>
          <p:nvPr/>
        </p:nvSpPr>
        <p:spPr>
          <a:xfrm>
            <a:off x="859536" y="14264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7" name="text-74"/>
          <p:cNvSpPr txBox="1"/>
          <p:nvPr/>
        </p:nvSpPr>
        <p:spPr>
          <a:xfrm>
            <a:off x="1335024" y="1426464"/>
            <a:ext cx="3200400" cy="365760"/>
          </a:xfrm>
          <a:prstGeom prst="rect">
            <a:avLst/>
          </a:prstGeom>
          <a:noFill/>
          <a:ln/>
        </p:spPr>
        <p:txBody>
          <a:bodyPr wrap="square" lIns="0" tIns="0" rIns="0" bIns="0" rtlCol="0" anchor="ctr"/>
          <a:lstStyle/>
          <a:p>
            <a:pPr indent="0" marL="0">
              <a:buNone/>
            </a:pPr>
            <a:r>
              <a:rPr lang="en-US" sz="1200" b="1" dirty="0">
                <a:solidFill>
                  <a:schemeClr val="tx1"/>
                </a:solidFill>
              </a:rPr>
              <a:t>CheckAm  </a:t>
            </a:r>
            <a:pPr indent="0" marL="0">
              <a:buNone/>
            </a:pPr>
            <a:r>
              <a:rPr lang="en-US" sz="1200" dirty="0">
                <a:solidFill>
                  <a:schemeClr val="accent5"/>
                </a:solidFill>
              </a:rPr>
              <a:t>@checkamoutbot</a:t>
            </a:r>
            <a:endParaRPr lang="en-US" sz="1200" dirty="0"/>
          </a:p>
        </p:txBody>
      </p:sp>
      <p:sp>
        <p:nvSpPr>
          <p:cNvPr id="8" name="line-75"/>
          <p:cNvSpPr/>
          <p:nvPr/>
        </p:nvSpPr>
        <p:spPr>
          <a:xfrm>
            <a:off x="676656" y="1901952"/>
            <a:ext cx="4590288" cy="914"/>
          </a:xfrm>
          <a:prstGeom prst="line">
            <a:avLst/>
          </a:prstGeom>
          <a:noFill/>
          <a:ln w="22225">
            <a:solidFill>
              <a:schemeClr val="accent6"/>
            </a:solidFill>
            <a:prstDash val="solid"/>
          </a:ln>
        </p:spPr>
      </p:sp>
      <p:sp>
        <p:nvSpPr>
          <p:cNvPr id="9" name="user-bubble-76"/>
          <p:cNvSpPr/>
          <p:nvPr/>
        </p:nvSpPr>
        <p:spPr>
          <a:xfrm>
            <a:off x="1362456" y="2029968"/>
            <a:ext cx="3767328" cy="914400"/>
          </a:xfrm>
          <a:prstGeom prst="roundRect">
            <a:avLst>
              <a:gd name="adj" fmla="val 12000"/>
            </a:avLst>
          </a:prstGeom>
          <a:solidFill>
            <a:schemeClr val="accent6"/>
          </a:solidFill>
          <a:ln w="12700">
            <a:solidFill>
              <a:schemeClr val="accent6"/>
            </a:solidFill>
            <a:prstDash val="solid"/>
          </a:ln>
        </p:spPr>
      </p:sp>
      <p:sp>
        <p:nvSpPr>
          <p:cNvPr id="10" name="text-77"/>
          <p:cNvSpPr txBox="1"/>
          <p:nvPr/>
        </p:nvSpPr>
        <p:spPr>
          <a:xfrm>
            <a:off x="1472184" y="2103120"/>
            <a:ext cx="3547872" cy="768096"/>
          </a:xfrm>
          <a:prstGeom prst="rect">
            <a:avLst/>
          </a:prstGeom>
          <a:noFill/>
          <a:ln/>
        </p:spPr>
        <p:txBody>
          <a:bodyPr wrap="square" lIns="0" tIns="0" rIns="0" bIns="0" rtlCol="0" anchor="t"/>
          <a:lstStyle/>
          <a:p>
            <a:pPr indent="0" marL="0">
              <a:buNone/>
            </a:pPr>
            <a:r>
              <a:rPr lang="en-US" sz="1100" dirty="0">
                <a:solidFill>
                  <a:schemeClr val="tx1"/>
                </a:solidFill>
              </a:rPr>
              <a:t>Congratulations! Your OPay loan of N150,000 has been approved. Pay a processing fee of N5,000 to 8123456789 to unlock and receive your money within 24 hours. Visit opay-loans.xyz/claim</a:t>
            </a:r>
            <a:endParaRPr lang="en-US" sz="1100" dirty="0"/>
          </a:p>
        </p:txBody>
      </p:sp>
      <p:sp>
        <p:nvSpPr>
          <p:cNvPr id="11" name="bot-bubble-78"/>
          <p:cNvSpPr/>
          <p:nvPr/>
        </p:nvSpPr>
        <p:spPr>
          <a:xfrm>
            <a:off x="813816" y="3054096"/>
            <a:ext cx="4178808" cy="3310128"/>
          </a:xfrm>
          <a:prstGeom prst="roundRect">
            <a:avLst>
              <a:gd name="adj" fmla="val 3315"/>
            </a:avLst>
          </a:prstGeom>
          <a:solidFill>
            <a:schemeClr val="bg1"/>
          </a:solidFill>
          <a:ln w="6350">
            <a:solidFill>
              <a:schemeClr val="accent6"/>
            </a:solidFill>
            <a:prstDash val="solid"/>
          </a:ln>
        </p:spPr>
      </p:sp>
      <p:sp>
        <p:nvSpPr>
          <p:cNvPr id="12" name="verdict-dot-79"/>
          <p:cNvSpPr/>
          <p:nvPr/>
        </p:nvSpPr>
        <p:spPr>
          <a:xfrm>
            <a:off x="941832" y="3191256"/>
            <a:ext cx="182880" cy="182880"/>
          </a:xfrm>
          <a:prstGeom prst="ellipse">
            <a:avLst/>
          </a:prstGeom>
          <a:solidFill>
            <a:schemeClr val="accent2"/>
          </a:solidFill>
          <a:ln w="12700">
            <a:solidFill>
              <a:schemeClr val="accent2"/>
            </a:solidFill>
            <a:prstDash val="solid"/>
          </a:ln>
        </p:spPr>
      </p:sp>
      <p:sp>
        <p:nvSpPr>
          <p:cNvPr id="13" name="text-80"/>
          <p:cNvSpPr txBox="1"/>
          <p:nvPr/>
        </p:nvSpPr>
        <p:spPr>
          <a:xfrm>
            <a:off x="1197864" y="3145536"/>
            <a:ext cx="3675888" cy="274320"/>
          </a:xfrm>
          <a:prstGeom prst="rect">
            <a:avLst/>
          </a:prstGeom>
          <a:noFill/>
          <a:ln/>
        </p:spPr>
        <p:txBody>
          <a:bodyPr wrap="square" lIns="0" tIns="0" rIns="0" bIns="0" rtlCol="0" anchor="ctr"/>
          <a:lstStyle/>
          <a:p>
            <a:pPr indent="0" marL="0">
              <a:buNone/>
            </a:pPr>
            <a:r>
              <a:rPr lang="en-US" sz="1300" b="1" dirty="0">
                <a:solidFill>
                  <a:schemeClr val="tx1"/>
                </a:solidFill>
              </a:rPr>
              <a:t>Fake OPay loan asks for upfront fee</a:t>
            </a:r>
            <a:endParaRPr lang="en-US" sz="1300" dirty="0"/>
          </a:p>
        </p:txBody>
      </p:sp>
      <p:sp>
        <p:nvSpPr>
          <p:cNvPr id="14" name="text-81"/>
          <p:cNvSpPr txBox="1"/>
          <p:nvPr/>
        </p:nvSpPr>
        <p:spPr>
          <a:xfrm>
            <a:off x="941832" y="3493008"/>
            <a:ext cx="3922776" cy="2779776"/>
          </a:xfrm>
          <a:prstGeom prst="rect">
            <a:avLst/>
          </a:prstGeom>
          <a:noFill/>
          <a:ln/>
        </p:spPr>
        <p:txBody>
          <a:bodyPr wrap="square" lIns="0" tIns="0" rIns="0" bIns="0" rtlCol="0" anchor="t"/>
          <a:lstStyle/>
          <a:p>
            <a:pPr indent="0" marL="0">
              <a:buNone/>
            </a:pPr>
            <a:r>
              <a:rPr lang="en-US" sz="1250" b="1" dirty="0">
                <a:solidFill>
                  <a:schemeClr val="tx1"/>
                </a:solidFill>
              </a:rPr>
              <a:t>Why:</a:t>
            </a:r>
            <a:endParaRPr lang="en-US" sz="1250" dirty="0"/>
          </a:p>
          <a:p>
            <a:pPr indent="0" marL="0">
              <a:spcAft>
                <a:spcPts val="300"/>
              </a:spcAft>
              <a:buNone/>
            </a:pPr>
            <a:r>
              <a:rPr lang="en-US" sz="1250" dirty="0">
                <a:solidFill>
                  <a:schemeClr val="tx1"/>
                </a:solidFill>
              </a:rPr>
              <a:t>1. It demands a processing fee before releasing the loan, which is the classic advance-fee scam pattern. [1]</a:t>
            </a:r>
            <a:endParaRPr lang="en-US" sz="1250" dirty="0"/>
          </a:p>
          <a:p>
            <a:pPr indent="0" marL="0">
              <a:spcAft>
                <a:spcPts val="300"/>
              </a:spcAft>
              <a:buNone/>
            </a:pPr>
            <a:r>
              <a:rPr lang="en-US" sz="1250" dirty="0">
                <a:solidFill>
                  <a:schemeClr val="tx1"/>
                </a:solidFill>
              </a:rPr>
              <a:t>2. The link uses a look-alike domain (opay-loans.xyz) instead of OPay's real website (opayweb.com). [2][3][4]</a:t>
            </a:r>
            <a:endParaRPr lang="en-US" sz="1250" dirty="0"/>
          </a:p>
          <a:p>
            <a:pPr indent="0" marL="0">
              <a:spcAft>
                <a:spcPts val="500"/>
              </a:spcAft>
              <a:buNone/>
            </a:pPr>
            <a:r>
              <a:rPr lang="en-US" sz="1250" dirty="0">
                <a:solidFill>
                  <a:schemeClr val="tx1"/>
                </a:solidFill>
              </a:rPr>
              <a:t>3. The message pressures you to act fast and claims approval for a loan you never applied for. [1]</a:t>
            </a:r>
            <a:endParaRPr lang="en-US" sz="1250" dirty="0"/>
          </a:p>
          <a:p>
            <a:pPr indent="0" marL="0">
              <a:spcAft>
                <a:spcPts val="500"/>
              </a:spcAft>
              <a:buNone/>
            </a:pPr>
            <a:r>
              <a:rPr lang="en-US" sz="1250" b="1" dirty="0">
                <a:solidFill>
                  <a:schemeClr val="tx1"/>
                </a:solidFill>
              </a:rPr>
              <a:t>Do not pay any fee or share your details. Block the sender, report the number to your bank and the FCCPC.</a:t>
            </a:r>
            <a:endParaRPr lang="en-US" sz="1250" dirty="0"/>
          </a:p>
          <a:p>
            <a:pPr indent="0" marL="0">
              <a:buNone/>
            </a:pPr>
            <a:r>
              <a:rPr lang="en-US" sz="1100" dirty="0">
                <a:solidFill>
                  <a:schemeClr val="accent5"/>
                </a:solidFill>
              </a:rPr>
              <a:t>Sources: [1] Message check [2] Official accounts list: https://opayweb.com [3] Link safety check [4] Domain record (RDAP)</a:t>
            </a:r>
            <a:endParaRPr lang="en-US" sz="1250" dirty="0"/>
          </a:p>
        </p:txBody>
      </p:sp>
      <p:sp>
        <p:nvSpPr>
          <p:cNvPr id="15" name="text-82"/>
          <p:cNvSpPr txBox="1"/>
          <p:nvPr/>
        </p:nvSpPr>
        <p:spPr>
          <a:xfrm>
            <a:off x="5943600" y="1280160"/>
            <a:ext cx="5696712" cy="457200"/>
          </a:xfrm>
          <a:prstGeom prst="rect">
            <a:avLst/>
          </a:prstGeom>
          <a:noFill/>
          <a:ln/>
        </p:spPr>
        <p:txBody>
          <a:bodyPr wrap="square" lIns="0" tIns="0" rIns="0" bIns="0" rtlCol="0" anchor="t"/>
          <a:lstStyle/>
          <a:p>
            <a:pPr indent="0" marL="0">
              <a:buNone/>
            </a:pPr>
            <a:r>
              <a:rPr lang="en-US" sz="2000" b="1" dirty="0">
                <a:solidFill>
                  <a:schemeClr val="tx1"/>
                </a:solidFill>
              </a:rPr>
              <a:t>Asked in Pidgin, it answers in Pidgin</a:t>
            </a:r>
            <a:endParaRPr lang="en-US" sz="2000" dirty="0"/>
          </a:p>
        </p:txBody>
      </p:sp>
      <p:sp>
        <p:nvSpPr>
          <p:cNvPr id="16" name="card-83"/>
          <p:cNvSpPr/>
          <p:nvPr/>
        </p:nvSpPr>
        <p:spPr>
          <a:xfrm>
            <a:off x="5943600" y="1828800"/>
            <a:ext cx="5696712" cy="1691640"/>
          </a:xfrm>
          <a:prstGeom prst="roundRect">
            <a:avLst>
              <a:gd name="adj" fmla="val 6486"/>
            </a:avLst>
          </a:prstGeom>
          <a:solidFill>
            <a:schemeClr val="bg2"/>
          </a:solidFill>
          <a:ln w="12700">
            <a:solidFill>
              <a:schemeClr val="bg2"/>
            </a:solidFill>
            <a:prstDash val="solid"/>
          </a:ln>
        </p:spPr>
      </p:sp>
      <p:sp>
        <p:nvSpPr>
          <p:cNvPr id="17" name="verdict-dot-84"/>
          <p:cNvSpPr/>
          <p:nvPr/>
        </p:nvSpPr>
        <p:spPr>
          <a:xfrm>
            <a:off x="6217920" y="2075688"/>
            <a:ext cx="237744" cy="237744"/>
          </a:xfrm>
          <a:prstGeom prst="ellipse">
            <a:avLst/>
          </a:prstGeom>
          <a:solidFill>
            <a:schemeClr val="accent2"/>
          </a:solidFill>
          <a:ln w="12700">
            <a:solidFill>
              <a:schemeClr val="accent2"/>
            </a:solidFill>
            <a:prstDash val="solid"/>
          </a:ln>
        </p:spPr>
      </p:sp>
      <p:sp>
        <p:nvSpPr>
          <p:cNvPr id="18" name="text-85"/>
          <p:cNvSpPr txBox="1"/>
          <p:nvPr/>
        </p:nvSpPr>
        <p:spPr>
          <a:xfrm>
            <a:off x="6583680" y="2011680"/>
            <a:ext cx="4782312" cy="365760"/>
          </a:xfrm>
          <a:prstGeom prst="rect">
            <a:avLst/>
          </a:prstGeom>
          <a:noFill/>
          <a:ln/>
        </p:spPr>
        <p:txBody>
          <a:bodyPr wrap="square" lIns="0" tIns="0" rIns="0" bIns="0" rtlCol="0" anchor="ctr"/>
          <a:lstStyle/>
          <a:p>
            <a:pPr indent="0" marL="0">
              <a:buNone/>
            </a:pPr>
            <a:r>
              <a:rPr lang="en-US" sz="1600" b="1" dirty="0">
                <a:solidFill>
                  <a:schemeClr val="tx1"/>
                </a:solidFill>
              </a:rPr>
              <a:t>NNPC recruitment fee na scam</a:t>
            </a:r>
            <a:endParaRPr lang="en-US" sz="1600" dirty="0"/>
          </a:p>
        </p:txBody>
      </p:sp>
      <p:sp>
        <p:nvSpPr>
          <p:cNvPr id="19" name="text-86"/>
          <p:cNvSpPr txBox="1"/>
          <p:nvPr/>
        </p:nvSpPr>
        <p:spPr>
          <a:xfrm>
            <a:off x="6217920" y="2468880"/>
            <a:ext cx="5148072" cy="114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 Real NNPC recruitment no dey ask for any registration fee.</a:t>
            </a:r>
            <a:endParaRPr lang="en-US" sz="1400" dirty="0"/>
          </a:p>
          <a:p>
            <a:pPr indent="0" marL="0">
              <a:buNone/>
            </a:pPr>
            <a:r>
              <a:rPr lang="en-US" sz="1400" dirty="0">
                <a:solidFill>
                  <a:schemeClr val="tx1"/>
                </a:solidFill>
              </a:rPr>
              <a:t>2. The link nnpc-recruitment-portal.online no be NNPC real website, their real site na nnpcgroup.com.</a:t>
            </a:r>
            <a:endParaRPr lang="en-US" sz="1400" dirty="0"/>
          </a:p>
        </p:txBody>
      </p:sp>
      <p:sp>
        <p:nvSpPr>
          <p:cNvPr id="20" name="icon-circle-87"/>
          <p:cNvSpPr/>
          <p:nvPr/>
        </p:nvSpPr>
        <p:spPr>
          <a:xfrm>
            <a:off x="5943600" y="3931920"/>
            <a:ext cx="566928" cy="566928"/>
          </a:xfrm>
          <a:prstGeom prst="ellipse">
            <a:avLst/>
          </a:prstGeom>
          <a:solidFill>
            <a:srgbClr val="0D2B1F"/>
          </a:solidFill>
          <a:ln w="12700">
            <a:solidFill>
              <a:srgbClr val="0D2B1F"/>
            </a:solidFill>
            <a:prstDash val="solid"/>
          </a:ln>
        </p:spPr>
      </p:sp>
      <p:pic>
        <p:nvPicPr>
          <p:cNvPr id="21" name="icon-FaCheck-88" descr="preencoded.png">    </p:cNvPr>
          <p:cNvPicPr>
            <a:picLocks noChangeAspect="1"/>
          </p:cNvPicPr>
          <p:nvPr/>
        </p:nvPicPr>
        <p:blipFill>
          <a:blip r:embed="rId1"/>
          <a:stretch>
            <a:fillRect/>
          </a:stretch>
        </p:blipFill>
        <p:spPr>
          <a:xfrm>
            <a:off x="6085332" y="4073652"/>
            <a:ext cx="283464" cy="283464"/>
          </a:xfrm>
          <a:prstGeom prst="rect">
            <a:avLst/>
          </a:prstGeom>
        </p:spPr>
      </p:pic>
      <p:sp>
        <p:nvSpPr>
          <p:cNvPr id="22" name="text-89"/>
          <p:cNvSpPr txBox="1"/>
          <p:nvPr/>
        </p:nvSpPr>
        <p:spPr>
          <a:xfrm>
            <a:off x="6720840" y="3931920"/>
            <a:ext cx="4873752" cy="566928"/>
          </a:xfrm>
          <a:prstGeom prst="rect">
            <a:avLst/>
          </a:prstGeom>
          <a:noFill/>
          <a:ln/>
        </p:spPr>
        <p:txBody>
          <a:bodyPr wrap="square" lIns="0" tIns="0" rIns="0" bIns="0" rtlCol="0" anchor="ctr"/>
          <a:lstStyle/>
          <a:p>
            <a:pPr indent="0" marL="0">
              <a:buNone/>
            </a:pPr>
            <a:r>
              <a:rPr lang="en-US" sz="1800" dirty="0">
                <a:solidFill>
                  <a:schemeClr val="tx1"/>
                </a:solidFill>
              </a:rPr>
              <a:t>Verdict first, in one line</a:t>
            </a:r>
            <a:endParaRPr lang="en-US" sz="1800" dirty="0"/>
          </a:p>
        </p:txBody>
      </p:sp>
      <p:sp>
        <p:nvSpPr>
          <p:cNvPr id="23" name="icon-circle-90"/>
          <p:cNvSpPr/>
          <p:nvPr/>
        </p:nvSpPr>
        <p:spPr>
          <a:xfrm>
            <a:off x="5943600" y="4709160"/>
            <a:ext cx="566928" cy="566928"/>
          </a:xfrm>
          <a:prstGeom prst="ellipse">
            <a:avLst/>
          </a:prstGeom>
          <a:solidFill>
            <a:srgbClr val="0D2B1F"/>
          </a:solidFill>
          <a:ln w="12700">
            <a:solidFill>
              <a:srgbClr val="0D2B1F"/>
            </a:solidFill>
            <a:prstDash val="solid"/>
          </a:ln>
        </p:spPr>
      </p:sp>
      <p:pic>
        <p:nvPicPr>
          <p:cNvPr id="24" name="icon-FaListOl-91" descr="preencoded.png">    </p:cNvPr>
          <p:cNvPicPr>
            <a:picLocks noChangeAspect="1"/>
          </p:cNvPicPr>
          <p:nvPr/>
        </p:nvPicPr>
        <p:blipFill>
          <a:blip r:embed="rId2"/>
          <a:stretch>
            <a:fillRect/>
          </a:stretch>
        </p:blipFill>
        <p:spPr>
          <a:xfrm>
            <a:off x="6085332" y="4850892"/>
            <a:ext cx="283464" cy="283464"/>
          </a:xfrm>
          <a:prstGeom prst="rect">
            <a:avLst/>
          </a:prstGeom>
        </p:spPr>
      </p:pic>
      <p:sp>
        <p:nvSpPr>
          <p:cNvPr id="25" name="text-92"/>
          <p:cNvSpPr txBox="1"/>
          <p:nvPr/>
        </p:nvSpPr>
        <p:spPr>
          <a:xfrm>
            <a:off x="6720840" y="4709160"/>
            <a:ext cx="4873752" cy="566928"/>
          </a:xfrm>
          <a:prstGeom prst="rect">
            <a:avLst/>
          </a:prstGeom>
          <a:noFill/>
          <a:ln/>
        </p:spPr>
        <p:txBody>
          <a:bodyPr wrap="square" lIns="0" tIns="0" rIns="0" bIns="0" rtlCol="0" anchor="ctr"/>
          <a:lstStyle/>
          <a:p>
            <a:pPr indent="0" marL="0">
              <a:buNone/>
            </a:pPr>
            <a:r>
              <a:rPr lang="en-US" sz="1800" dirty="0">
                <a:solidFill>
                  <a:schemeClr val="tx1"/>
                </a:solidFill>
              </a:rPr>
              <a:t>Every reason numbered to its source</a:t>
            </a:r>
            <a:endParaRPr lang="en-US" sz="1800" dirty="0"/>
          </a:p>
        </p:txBody>
      </p:sp>
      <p:sp>
        <p:nvSpPr>
          <p:cNvPr id="26" name="icon-circle-93"/>
          <p:cNvSpPr/>
          <p:nvPr/>
        </p:nvSpPr>
        <p:spPr>
          <a:xfrm>
            <a:off x="5943600" y="5486400"/>
            <a:ext cx="566928" cy="566928"/>
          </a:xfrm>
          <a:prstGeom prst="ellipse">
            <a:avLst/>
          </a:prstGeom>
          <a:solidFill>
            <a:srgbClr val="0D2B1F"/>
          </a:solidFill>
          <a:ln w="12700">
            <a:solidFill>
              <a:srgbClr val="0D2B1F"/>
            </a:solidFill>
            <a:prstDash val="solid"/>
          </a:ln>
        </p:spPr>
      </p:sp>
      <p:pic>
        <p:nvPicPr>
          <p:cNvPr id="27" name="icon-FaShieldHalved-94" descr="preencoded.png">    </p:cNvPr>
          <p:cNvPicPr>
            <a:picLocks noChangeAspect="1"/>
          </p:cNvPicPr>
          <p:nvPr/>
        </p:nvPicPr>
        <p:blipFill>
          <a:blip r:embed="rId3"/>
          <a:stretch>
            <a:fillRect/>
          </a:stretch>
        </p:blipFill>
        <p:spPr>
          <a:xfrm>
            <a:off x="6085332" y="5628132"/>
            <a:ext cx="283464" cy="283464"/>
          </a:xfrm>
          <a:prstGeom prst="rect">
            <a:avLst/>
          </a:prstGeom>
        </p:spPr>
      </p:pic>
      <p:sp>
        <p:nvSpPr>
          <p:cNvPr id="28" name="text-95"/>
          <p:cNvSpPr txBox="1"/>
          <p:nvPr/>
        </p:nvSpPr>
        <p:spPr>
          <a:xfrm>
            <a:off x="6720840" y="5486400"/>
            <a:ext cx="4873752" cy="566928"/>
          </a:xfrm>
          <a:prstGeom prst="rect">
            <a:avLst/>
          </a:prstGeom>
          <a:noFill/>
          <a:ln/>
        </p:spPr>
        <p:txBody>
          <a:bodyPr wrap="square" lIns="0" tIns="0" rIns="0" bIns="0" rtlCol="0" anchor="ctr"/>
          <a:lstStyle/>
          <a:p>
            <a:pPr indent="0" marL="0">
              <a:buNone/>
            </a:pPr>
            <a:r>
              <a:rPr lang="en-US" sz="1800" dirty="0">
                <a:solidFill>
                  <a:schemeClr val="tx1"/>
                </a:solidFill>
              </a:rPr>
              <a:t>Then what to do now</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How the agent works</a:t>
            </a:r>
            <a:endParaRPr lang="en-US" sz="3400" dirty="0"/>
          </a:p>
        </p:txBody>
      </p:sp>
      <p:sp>
        <p:nvSpPr>
          <p:cNvPr id="3" name="card-96"/>
          <p:cNvSpPr/>
          <p:nvPr/>
        </p:nvSpPr>
        <p:spPr>
          <a:xfrm>
            <a:off x="548640" y="2971800"/>
            <a:ext cx="1234440" cy="1005840"/>
          </a:xfrm>
          <a:prstGeom prst="roundRect">
            <a:avLst>
              <a:gd name="adj" fmla="val 10909"/>
            </a:avLst>
          </a:prstGeom>
          <a:solidFill>
            <a:schemeClr val="tx2"/>
          </a:solidFill>
          <a:ln w="12700">
            <a:solidFill>
              <a:schemeClr val="tx2"/>
            </a:solidFill>
            <a:prstDash val="solid"/>
          </a:ln>
        </p:spPr>
      </p:sp>
      <p:sp>
        <p:nvSpPr>
          <p:cNvPr id="4" name="text-97"/>
          <p:cNvSpPr txBox="1"/>
          <p:nvPr/>
        </p:nvSpPr>
        <p:spPr>
          <a:xfrm>
            <a:off x="548640" y="2971800"/>
            <a:ext cx="1234440" cy="1005840"/>
          </a:xfrm>
          <a:prstGeom prst="rect">
            <a:avLst/>
          </a:prstGeom>
          <a:noFill/>
          <a:ln/>
        </p:spPr>
        <p:txBody>
          <a:bodyPr wrap="square" lIns="0" tIns="0" rIns="0" bIns="0" rtlCol="0" anchor="ctr"/>
          <a:lstStyle/>
          <a:p>
            <a:pPr algn="ctr" indent="0" marL="0">
              <a:buNone/>
            </a:pPr>
            <a:r>
              <a:rPr lang="en-US" sz="1600" b="1" dirty="0">
                <a:solidFill>
                  <a:schemeClr val="bg1"/>
                </a:solidFill>
              </a:rPr>
              <a:t>Message</a:t>
            </a:r>
            <a:endParaRPr lang="en-US" sz="1600" dirty="0"/>
          </a:p>
        </p:txBody>
      </p:sp>
      <p:sp>
        <p:nvSpPr>
          <p:cNvPr id="5" name="card-98"/>
          <p:cNvSpPr/>
          <p:nvPr/>
        </p:nvSpPr>
        <p:spPr>
          <a:xfrm>
            <a:off x="2103120" y="2468880"/>
            <a:ext cx="1691640" cy="2011680"/>
          </a:xfrm>
          <a:prstGeom prst="roundRect">
            <a:avLst>
              <a:gd name="adj" fmla="val 6486"/>
            </a:avLst>
          </a:prstGeom>
          <a:solidFill>
            <a:schemeClr val="bg2"/>
          </a:solidFill>
          <a:ln w="12700">
            <a:solidFill>
              <a:schemeClr val="bg2"/>
            </a:solidFill>
            <a:prstDash val="solid"/>
          </a:ln>
        </p:spPr>
      </p:sp>
      <p:sp>
        <p:nvSpPr>
          <p:cNvPr id="6" name="text-99"/>
          <p:cNvSpPr txBox="1"/>
          <p:nvPr/>
        </p:nvSpPr>
        <p:spPr>
          <a:xfrm>
            <a:off x="2240280" y="2560320"/>
            <a:ext cx="1417320" cy="1828800"/>
          </a:xfrm>
          <a:prstGeom prst="rect">
            <a:avLst/>
          </a:prstGeom>
          <a:noFill/>
          <a:ln/>
        </p:spPr>
        <p:txBody>
          <a:bodyPr wrap="square" lIns="0" tIns="0" rIns="0" bIns="0" rtlCol="0" anchor="ctr"/>
          <a:lstStyle/>
          <a:p>
            <a:pPr indent="0" marL="0">
              <a:spcAft>
                <a:spcPts val="600"/>
              </a:spcAft>
              <a:buNone/>
            </a:pPr>
            <a:r>
              <a:rPr lang="en-US" sz="1400" b="1" dirty="0">
                <a:solidFill>
                  <a:schemeClr val="tx1"/>
                </a:solidFill>
              </a:rPr>
              <a:t>Extract what’s checkable</a:t>
            </a:r>
            <a:endParaRPr lang="en-US" sz="1600" dirty="0"/>
          </a:p>
          <a:p>
            <a:pPr indent="0" marL="0">
              <a:buNone/>
            </a:pPr>
            <a:r>
              <a:rPr lang="en-US" sz="1200" dirty="0">
                <a:solidFill>
                  <a:schemeClr val="accent5"/>
                </a:solidFill>
              </a:rPr>
              <a:t>Links, account numbers, phones, @handles, company names</a:t>
            </a:r>
            <a:endParaRPr lang="en-US" sz="1600" dirty="0"/>
          </a:p>
        </p:txBody>
      </p:sp>
      <p:sp>
        <p:nvSpPr>
          <p:cNvPr id="7" name="arrow-100"/>
          <p:cNvSpPr/>
          <p:nvPr/>
        </p:nvSpPr>
        <p:spPr>
          <a:xfrm>
            <a:off x="1810512" y="3474720"/>
            <a:ext cx="265176" cy="914"/>
          </a:xfrm>
          <a:prstGeom prst="line">
            <a:avLst/>
          </a:prstGeom>
          <a:noFill/>
          <a:ln w="22225">
            <a:solidFill>
              <a:schemeClr val="accent5"/>
            </a:solidFill>
            <a:prstDash val="solid"/>
            <a:tailEnd type="triangle"/>
          </a:ln>
        </p:spPr>
      </p:sp>
      <p:sp>
        <p:nvSpPr>
          <p:cNvPr id="8" name="text-101"/>
          <p:cNvSpPr txBox="1"/>
          <p:nvPr/>
        </p:nvSpPr>
        <p:spPr>
          <a:xfrm>
            <a:off x="4114800" y="1280160"/>
            <a:ext cx="3063240" cy="274320"/>
          </a:xfrm>
          <a:prstGeom prst="rect">
            <a:avLst/>
          </a:prstGeom>
          <a:noFill/>
          <a:ln/>
        </p:spPr>
        <p:txBody>
          <a:bodyPr wrap="square" lIns="0" tIns="0" rIns="0" bIns="0" rtlCol="0" anchor="t"/>
          <a:lstStyle/>
          <a:p>
            <a:pPr indent="0" marL="0">
              <a:buNone/>
            </a:pPr>
            <a:r>
              <a:rPr lang="en-US" sz="1200" b="1" dirty="0">
                <a:solidFill>
                  <a:schemeClr val="accent5"/>
                </a:solidFill>
              </a:rPr>
              <a:t>Evidence sources, in parallel</a:t>
            </a:r>
            <a:endParaRPr lang="en-US" sz="1200" dirty="0"/>
          </a:p>
        </p:txBody>
      </p:sp>
      <p:sp>
        <p:nvSpPr>
          <p:cNvPr id="9" name="card-102"/>
          <p:cNvSpPr/>
          <p:nvPr/>
        </p:nvSpPr>
        <p:spPr>
          <a:xfrm>
            <a:off x="4114800" y="1618488"/>
            <a:ext cx="3063240" cy="512064"/>
          </a:xfrm>
          <a:prstGeom prst="roundRect">
            <a:avLst>
              <a:gd name="adj" fmla="val 14286"/>
            </a:avLst>
          </a:prstGeom>
          <a:solidFill>
            <a:schemeClr val="bg2"/>
          </a:solidFill>
          <a:ln w="12700">
            <a:solidFill>
              <a:schemeClr val="bg2"/>
            </a:solidFill>
            <a:prstDash val="solid"/>
          </a:ln>
        </p:spPr>
      </p:sp>
      <p:sp>
        <p:nvSpPr>
          <p:cNvPr id="10" name="text-103"/>
          <p:cNvSpPr txBox="1"/>
          <p:nvPr/>
        </p:nvSpPr>
        <p:spPr>
          <a:xfrm>
            <a:off x="4224528" y="1618488"/>
            <a:ext cx="2843784" cy="512064"/>
          </a:xfrm>
          <a:prstGeom prst="rect">
            <a:avLst/>
          </a:prstGeom>
          <a:noFill/>
          <a:ln/>
        </p:spPr>
        <p:txBody>
          <a:bodyPr wrap="square" lIns="0" tIns="0" rIns="0" bIns="0" rtlCol="0" anchor="ctr"/>
          <a:lstStyle/>
          <a:p>
            <a:pPr indent="0" marL="0">
              <a:buNone/>
            </a:pPr>
            <a:r>
              <a:rPr lang="en-US" sz="1200" b="1" dirty="0">
                <a:solidFill>
                  <a:schemeClr val="tx1"/>
                </a:solidFill>
              </a:rPr>
              <a:t>Scam patterns</a:t>
            </a:r>
            <a:endParaRPr lang="en-US" sz="1600" dirty="0"/>
          </a:p>
        </p:txBody>
      </p:sp>
      <p:sp>
        <p:nvSpPr>
          <p:cNvPr id="11" name="card-104"/>
          <p:cNvSpPr/>
          <p:nvPr/>
        </p:nvSpPr>
        <p:spPr>
          <a:xfrm>
            <a:off x="4114800" y="2203704"/>
            <a:ext cx="3063240" cy="512064"/>
          </a:xfrm>
          <a:prstGeom prst="roundRect">
            <a:avLst>
              <a:gd name="adj" fmla="val 14286"/>
            </a:avLst>
          </a:prstGeom>
          <a:solidFill>
            <a:schemeClr val="bg2"/>
          </a:solidFill>
          <a:ln w="12700">
            <a:solidFill>
              <a:schemeClr val="bg2"/>
            </a:solidFill>
            <a:prstDash val="solid"/>
          </a:ln>
        </p:spPr>
      </p:sp>
      <p:sp>
        <p:nvSpPr>
          <p:cNvPr id="12" name="text-105"/>
          <p:cNvSpPr txBox="1"/>
          <p:nvPr/>
        </p:nvSpPr>
        <p:spPr>
          <a:xfrm>
            <a:off x="4224528" y="2203704"/>
            <a:ext cx="2843784" cy="512064"/>
          </a:xfrm>
          <a:prstGeom prst="rect">
            <a:avLst/>
          </a:prstGeom>
          <a:noFill/>
          <a:ln/>
        </p:spPr>
        <p:txBody>
          <a:bodyPr wrap="square" lIns="0" tIns="0" rIns="0" bIns="0" rtlCol="0" anchor="ctr"/>
          <a:lstStyle/>
          <a:p>
            <a:pPr indent="0" marL="0">
              <a:buNone/>
            </a:pPr>
            <a:r>
              <a:rPr lang="en-US" sz="1200" b="1" dirty="0">
                <a:solidFill>
                  <a:schemeClr val="tx1"/>
                </a:solidFill>
              </a:rPr>
              <a:t>Link safety</a:t>
            </a:r>
            <a:endParaRPr lang="en-US" sz="1600" dirty="0"/>
          </a:p>
          <a:p>
            <a:pPr indent="0" marL="0">
              <a:buNone/>
            </a:pPr>
            <a:r>
              <a:rPr lang="en-US" sz="1000" dirty="0">
                <a:solidFill>
                  <a:schemeClr val="accent5"/>
                </a:solidFill>
              </a:rPr>
              <a:t>153,000+ phishing sites, link tricks, short links expanded</a:t>
            </a:r>
            <a:endParaRPr lang="en-US" sz="1600" dirty="0"/>
          </a:p>
        </p:txBody>
      </p:sp>
      <p:sp>
        <p:nvSpPr>
          <p:cNvPr id="13" name="card-106"/>
          <p:cNvSpPr/>
          <p:nvPr/>
        </p:nvSpPr>
        <p:spPr>
          <a:xfrm>
            <a:off x="4114800" y="2788920"/>
            <a:ext cx="3063240" cy="512064"/>
          </a:xfrm>
          <a:prstGeom prst="roundRect">
            <a:avLst>
              <a:gd name="adj" fmla="val 14286"/>
            </a:avLst>
          </a:prstGeom>
          <a:solidFill>
            <a:schemeClr val="bg2"/>
          </a:solidFill>
          <a:ln w="12700">
            <a:solidFill>
              <a:schemeClr val="bg2"/>
            </a:solidFill>
            <a:prstDash val="solid"/>
          </a:ln>
        </p:spPr>
      </p:sp>
      <p:sp>
        <p:nvSpPr>
          <p:cNvPr id="14" name="text-107"/>
          <p:cNvSpPr txBox="1"/>
          <p:nvPr/>
        </p:nvSpPr>
        <p:spPr>
          <a:xfrm>
            <a:off x="4224528" y="2788920"/>
            <a:ext cx="2194560" cy="512064"/>
          </a:xfrm>
          <a:prstGeom prst="rect">
            <a:avLst/>
          </a:prstGeom>
          <a:noFill/>
          <a:ln/>
        </p:spPr>
        <p:txBody>
          <a:bodyPr wrap="square" lIns="0" tIns="0" rIns="0" bIns="0" rtlCol="0" anchor="ctr"/>
          <a:lstStyle/>
          <a:p>
            <a:pPr indent="0" marL="0">
              <a:buNone/>
            </a:pPr>
            <a:r>
              <a:rPr lang="en-US" sz="1200" b="1" dirty="0">
                <a:solidFill>
                  <a:schemeClr val="tx1"/>
                </a:solidFill>
              </a:rPr>
              <a:t>Official accounts</a:t>
            </a:r>
            <a:endParaRPr lang="en-US" sz="1600" dirty="0"/>
          </a:p>
          <a:p>
            <a:pPr indent="0" marL="0">
              <a:buNone/>
            </a:pPr>
            <a:r>
              <a:rPr lang="en-US" sz="1000" dirty="0">
                <a:solidFill>
                  <a:schemeClr val="accent5"/>
                </a:solidFill>
              </a:rPr>
              <a:t>37 Nigerian banks, fintechs, telecoms, agencies</a:t>
            </a:r>
            <a:endParaRPr lang="en-US" sz="1600" dirty="0"/>
          </a:p>
        </p:txBody>
      </p:sp>
      <p:sp>
        <p:nvSpPr>
          <p:cNvPr id="15" name="text-108"/>
          <p:cNvSpPr txBox="1"/>
          <p:nvPr/>
        </p:nvSpPr>
        <p:spPr>
          <a:xfrm>
            <a:off x="6400800" y="2788920"/>
            <a:ext cx="685800" cy="512064"/>
          </a:xfrm>
          <a:prstGeom prst="rect">
            <a:avLst/>
          </a:prstGeom>
          <a:noFill/>
          <a:ln/>
        </p:spPr>
        <p:txBody>
          <a:bodyPr wrap="square" lIns="0" tIns="0" rIns="0" bIns="0" rtlCol="0" anchor="ctr"/>
          <a:lstStyle/>
          <a:p>
            <a:pPr algn="r" indent="0" marL="0">
              <a:buNone/>
            </a:pPr>
            <a:r>
              <a:rPr lang="en-US" sz="1000" b="1" dirty="0">
                <a:solidFill>
                  <a:schemeClr val="accent1"/>
                </a:solidFill>
              </a:rPr>
              <a:t>Zetaris</a:t>
            </a:r>
            <a:endParaRPr lang="en-US" sz="1000" dirty="0"/>
          </a:p>
        </p:txBody>
      </p:sp>
      <p:sp>
        <p:nvSpPr>
          <p:cNvPr id="16" name="card-109"/>
          <p:cNvSpPr/>
          <p:nvPr/>
        </p:nvSpPr>
        <p:spPr>
          <a:xfrm>
            <a:off x="4114800" y="3374136"/>
            <a:ext cx="3063240" cy="512064"/>
          </a:xfrm>
          <a:prstGeom prst="roundRect">
            <a:avLst>
              <a:gd name="adj" fmla="val 14286"/>
            </a:avLst>
          </a:prstGeom>
          <a:solidFill>
            <a:schemeClr val="bg2"/>
          </a:solidFill>
          <a:ln w="12700">
            <a:solidFill>
              <a:schemeClr val="bg2"/>
            </a:solidFill>
            <a:prstDash val="solid"/>
          </a:ln>
        </p:spPr>
      </p:sp>
      <p:sp>
        <p:nvSpPr>
          <p:cNvPr id="17" name="text-110"/>
          <p:cNvSpPr txBox="1"/>
          <p:nvPr/>
        </p:nvSpPr>
        <p:spPr>
          <a:xfrm>
            <a:off x="4224528" y="3374136"/>
            <a:ext cx="2843784" cy="512064"/>
          </a:xfrm>
          <a:prstGeom prst="rect">
            <a:avLst/>
          </a:prstGeom>
          <a:noFill/>
          <a:ln/>
        </p:spPr>
        <p:txBody>
          <a:bodyPr wrap="square" lIns="0" tIns="0" rIns="0" bIns="0" rtlCol="0" anchor="ctr"/>
          <a:lstStyle/>
          <a:p>
            <a:pPr indent="0" marL="0">
              <a:buNone/>
            </a:pPr>
            <a:r>
              <a:rPr lang="en-US" sz="1200" b="1" dirty="0">
                <a:solidFill>
                  <a:schemeClr val="tx1"/>
                </a:solidFill>
              </a:rPr>
              <a:t>Domain age</a:t>
            </a:r>
            <a:endParaRPr lang="en-US" sz="1600" dirty="0"/>
          </a:p>
          <a:p>
            <a:pPr indent="0" marL="0">
              <a:buNone/>
            </a:pPr>
            <a:r>
              <a:rPr lang="en-US" sz="1000" dirty="0">
                <a:solidFill>
                  <a:schemeClr val="accent5"/>
                </a:solidFill>
              </a:rPr>
              <a:t>RDAP registry</a:t>
            </a:r>
            <a:endParaRPr lang="en-US" sz="1600" dirty="0"/>
          </a:p>
        </p:txBody>
      </p:sp>
      <p:sp>
        <p:nvSpPr>
          <p:cNvPr id="18" name="card-111"/>
          <p:cNvSpPr/>
          <p:nvPr/>
        </p:nvSpPr>
        <p:spPr>
          <a:xfrm>
            <a:off x="4114800" y="3959352"/>
            <a:ext cx="3063240" cy="512064"/>
          </a:xfrm>
          <a:prstGeom prst="roundRect">
            <a:avLst>
              <a:gd name="adj" fmla="val 14286"/>
            </a:avLst>
          </a:prstGeom>
          <a:solidFill>
            <a:schemeClr val="bg2"/>
          </a:solidFill>
          <a:ln w="12700">
            <a:solidFill>
              <a:schemeClr val="bg2"/>
            </a:solidFill>
            <a:prstDash val="solid"/>
          </a:ln>
        </p:spPr>
      </p:sp>
      <p:sp>
        <p:nvSpPr>
          <p:cNvPr id="19" name="text-112"/>
          <p:cNvSpPr txBox="1"/>
          <p:nvPr/>
        </p:nvSpPr>
        <p:spPr>
          <a:xfrm>
            <a:off x="4224528" y="3959352"/>
            <a:ext cx="2194560" cy="512064"/>
          </a:xfrm>
          <a:prstGeom prst="rect">
            <a:avLst/>
          </a:prstGeom>
          <a:noFill/>
          <a:ln/>
        </p:spPr>
        <p:txBody>
          <a:bodyPr wrap="square" lIns="0" tIns="0" rIns="0" bIns="0" rtlCol="0" anchor="ctr"/>
          <a:lstStyle/>
          <a:p>
            <a:pPr indent="0" marL="0">
              <a:buNone/>
            </a:pPr>
            <a:r>
              <a:rPr lang="en-US" sz="1200" b="1" dirty="0">
                <a:solidFill>
                  <a:schemeClr val="tx1"/>
                </a:solidFill>
              </a:rPr>
              <a:t>SEC Nigeria notices</a:t>
            </a:r>
            <a:endParaRPr lang="en-US" sz="1600" dirty="0"/>
          </a:p>
          <a:p>
            <a:pPr indent="0" marL="0">
              <a:buNone/>
            </a:pPr>
            <a:r>
              <a:rPr lang="en-US" sz="1000" dirty="0">
                <a:solidFill>
                  <a:schemeClr val="accent5"/>
                </a:solidFill>
              </a:rPr>
              <a:t>Illegal-operator warnings</a:t>
            </a:r>
            <a:endParaRPr lang="en-US" sz="1600" dirty="0"/>
          </a:p>
        </p:txBody>
      </p:sp>
      <p:sp>
        <p:nvSpPr>
          <p:cNvPr id="20" name="text-113"/>
          <p:cNvSpPr txBox="1"/>
          <p:nvPr/>
        </p:nvSpPr>
        <p:spPr>
          <a:xfrm>
            <a:off x="6400800" y="3959352"/>
            <a:ext cx="685800" cy="512064"/>
          </a:xfrm>
          <a:prstGeom prst="rect">
            <a:avLst/>
          </a:prstGeom>
          <a:noFill/>
          <a:ln/>
        </p:spPr>
        <p:txBody>
          <a:bodyPr wrap="square" lIns="0" tIns="0" rIns="0" bIns="0" rtlCol="0" anchor="ctr"/>
          <a:lstStyle/>
          <a:p>
            <a:pPr algn="r" indent="0" marL="0">
              <a:buNone/>
            </a:pPr>
            <a:r>
              <a:rPr lang="en-US" sz="1000" b="1" dirty="0">
                <a:solidFill>
                  <a:schemeClr val="accent1"/>
                </a:solidFill>
              </a:rPr>
              <a:t>Zetaris</a:t>
            </a:r>
            <a:endParaRPr lang="en-US" sz="1000" dirty="0"/>
          </a:p>
        </p:txBody>
      </p:sp>
      <p:sp>
        <p:nvSpPr>
          <p:cNvPr id="21" name="card-114"/>
          <p:cNvSpPr/>
          <p:nvPr/>
        </p:nvSpPr>
        <p:spPr>
          <a:xfrm>
            <a:off x="4114800" y="4544568"/>
            <a:ext cx="3063240" cy="512064"/>
          </a:xfrm>
          <a:prstGeom prst="roundRect">
            <a:avLst>
              <a:gd name="adj" fmla="val 14286"/>
            </a:avLst>
          </a:prstGeom>
          <a:solidFill>
            <a:schemeClr val="bg2"/>
          </a:solidFill>
          <a:ln w="12700">
            <a:solidFill>
              <a:schemeClr val="bg2"/>
            </a:solidFill>
            <a:prstDash val="solid"/>
          </a:ln>
        </p:spPr>
      </p:sp>
      <p:sp>
        <p:nvSpPr>
          <p:cNvPr id="22" name="text-115"/>
          <p:cNvSpPr txBox="1"/>
          <p:nvPr/>
        </p:nvSpPr>
        <p:spPr>
          <a:xfrm>
            <a:off x="4224528" y="4544568"/>
            <a:ext cx="2194560" cy="512064"/>
          </a:xfrm>
          <a:prstGeom prst="rect">
            <a:avLst/>
          </a:prstGeom>
          <a:noFill/>
          <a:ln/>
        </p:spPr>
        <p:txBody>
          <a:bodyPr wrap="square" lIns="0" tIns="0" rIns="0" bIns="0" rtlCol="0" anchor="ctr"/>
          <a:lstStyle/>
          <a:p>
            <a:pPr indent="0" marL="0">
              <a:buNone/>
            </a:pPr>
            <a:r>
              <a:rPr lang="en-US" sz="1200" b="1" dirty="0">
                <a:solidFill>
                  <a:schemeClr val="tx1"/>
                </a:solidFill>
              </a:rPr>
              <a:t>CheckAm memory</a:t>
            </a:r>
            <a:endParaRPr lang="en-US" sz="1600" dirty="0"/>
          </a:p>
          <a:p>
            <a:pPr indent="0" marL="0">
              <a:buNone/>
            </a:pPr>
            <a:r>
              <a:rPr lang="en-US" sz="1000" dirty="0">
                <a:solidFill>
                  <a:schemeClr val="accent5"/>
                </a:solidFill>
              </a:rPr>
              <a:t>Others who sent the same account, phone or site</a:t>
            </a:r>
            <a:endParaRPr lang="en-US" sz="1600" dirty="0"/>
          </a:p>
        </p:txBody>
      </p:sp>
      <p:sp>
        <p:nvSpPr>
          <p:cNvPr id="23" name="text-116"/>
          <p:cNvSpPr txBox="1"/>
          <p:nvPr/>
        </p:nvSpPr>
        <p:spPr>
          <a:xfrm>
            <a:off x="6400800" y="4544568"/>
            <a:ext cx="685800" cy="512064"/>
          </a:xfrm>
          <a:prstGeom prst="rect">
            <a:avLst/>
          </a:prstGeom>
          <a:noFill/>
          <a:ln/>
        </p:spPr>
        <p:txBody>
          <a:bodyPr wrap="square" lIns="0" tIns="0" rIns="0" bIns="0" rtlCol="0" anchor="ctr"/>
          <a:lstStyle/>
          <a:p>
            <a:pPr algn="r" indent="0" marL="0">
              <a:buNone/>
            </a:pPr>
            <a:r>
              <a:rPr lang="en-US" sz="1000" b="1" dirty="0">
                <a:solidFill>
                  <a:schemeClr val="accent1"/>
                </a:solidFill>
              </a:rPr>
              <a:t>H-MEM</a:t>
            </a:r>
            <a:endParaRPr lang="en-US" sz="1000" dirty="0"/>
          </a:p>
        </p:txBody>
      </p:sp>
      <p:sp>
        <p:nvSpPr>
          <p:cNvPr id="24" name="card-117"/>
          <p:cNvSpPr/>
          <p:nvPr/>
        </p:nvSpPr>
        <p:spPr>
          <a:xfrm>
            <a:off x="4114800" y="5129784"/>
            <a:ext cx="3063240" cy="512064"/>
          </a:xfrm>
          <a:prstGeom prst="roundRect">
            <a:avLst>
              <a:gd name="adj" fmla="val 14286"/>
            </a:avLst>
          </a:prstGeom>
          <a:solidFill>
            <a:schemeClr val="bg2"/>
          </a:solidFill>
          <a:ln w="12700">
            <a:solidFill>
              <a:schemeClr val="bg2"/>
            </a:solidFill>
            <a:prstDash val="solid"/>
          </a:ln>
        </p:spPr>
      </p:sp>
      <p:sp>
        <p:nvSpPr>
          <p:cNvPr id="25" name="text-118"/>
          <p:cNvSpPr txBox="1"/>
          <p:nvPr/>
        </p:nvSpPr>
        <p:spPr>
          <a:xfrm>
            <a:off x="4224528" y="5129784"/>
            <a:ext cx="2843784" cy="512064"/>
          </a:xfrm>
          <a:prstGeom prst="rect">
            <a:avLst/>
          </a:prstGeom>
          <a:noFill/>
          <a:ln/>
        </p:spPr>
        <p:txBody>
          <a:bodyPr wrap="square" lIns="0" tIns="0" rIns="0" bIns="0" rtlCol="0" anchor="ctr"/>
          <a:lstStyle/>
          <a:p>
            <a:pPr indent="0" marL="0">
              <a:buNone/>
            </a:pPr>
            <a:r>
              <a:rPr lang="en-US" sz="1200" b="1" dirty="0">
                <a:solidFill>
                  <a:schemeClr val="tx1"/>
                </a:solidFill>
              </a:rPr>
              <a:t>Web + X search</a:t>
            </a:r>
            <a:endParaRPr lang="en-US" sz="1600" dirty="0"/>
          </a:p>
          <a:p>
            <a:pPr indent="0" marL="0">
              <a:buNone/>
            </a:pPr>
            <a:r>
              <a:rPr lang="en-US" sz="1000" dirty="0">
                <a:solidFill>
                  <a:schemeClr val="accent5"/>
                </a:solidFill>
              </a:rPr>
              <a:t>Tavily</a:t>
            </a:r>
            <a:endParaRPr lang="en-US" sz="1600" dirty="0"/>
          </a:p>
        </p:txBody>
      </p:sp>
      <p:sp>
        <p:nvSpPr>
          <p:cNvPr id="26" name="arrow-119"/>
          <p:cNvSpPr/>
          <p:nvPr/>
        </p:nvSpPr>
        <p:spPr>
          <a:xfrm>
            <a:off x="3822192" y="3474720"/>
            <a:ext cx="265176" cy="914"/>
          </a:xfrm>
          <a:prstGeom prst="line">
            <a:avLst/>
          </a:prstGeom>
          <a:noFill/>
          <a:ln w="22225">
            <a:solidFill>
              <a:schemeClr val="accent5"/>
            </a:solidFill>
            <a:prstDash val="solid"/>
            <a:tailEnd type="triangle"/>
          </a:ln>
        </p:spPr>
      </p:sp>
      <p:sp>
        <p:nvSpPr>
          <p:cNvPr id="27" name="card-120"/>
          <p:cNvSpPr/>
          <p:nvPr/>
        </p:nvSpPr>
        <p:spPr>
          <a:xfrm>
            <a:off x="7498080" y="2743200"/>
            <a:ext cx="1051560" cy="1463040"/>
          </a:xfrm>
          <a:prstGeom prst="roundRect">
            <a:avLst>
              <a:gd name="adj" fmla="val 10435"/>
            </a:avLst>
          </a:prstGeom>
          <a:solidFill>
            <a:schemeClr val="tx2"/>
          </a:solidFill>
          <a:ln w="12700">
            <a:solidFill>
              <a:schemeClr val="tx2"/>
            </a:solidFill>
            <a:prstDash val="solid"/>
          </a:ln>
        </p:spPr>
      </p:sp>
      <p:sp>
        <p:nvSpPr>
          <p:cNvPr id="28" name="text-121"/>
          <p:cNvSpPr txBox="1"/>
          <p:nvPr/>
        </p:nvSpPr>
        <p:spPr>
          <a:xfrm>
            <a:off x="7498080" y="2743200"/>
            <a:ext cx="1051560" cy="146304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E1</a:t>
            </a:r>
            <a:endParaRPr lang="en-US" sz="1500" dirty="0"/>
          </a:p>
          <a:p>
            <a:pPr algn="ctr" indent="0" marL="0">
              <a:buNone/>
            </a:pPr>
            <a:r>
              <a:rPr lang="en-US" sz="1500" b="1" dirty="0">
                <a:solidFill>
                  <a:schemeClr val="bg1"/>
                </a:solidFill>
                <a:latin typeface="+mj-lt" pitchFamily="34" charset="0"/>
                <a:ea typeface="+mj-lt" pitchFamily="34" charset="-122"/>
                <a:cs typeface="+mj-lt" pitchFamily="34" charset="-120"/>
              </a:rPr>
              <a:t>E2</a:t>
            </a:r>
            <a:endParaRPr lang="en-US" sz="1500" dirty="0"/>
          </a:p>
          <a:p>
            <a:pPr algn="ctr" indent="0" marL="0">
              <a:buNone/>
            </a:pPr>
            <a:r>
              <a:rPr lang="en-US" sz="1500" b="1" dirty="0">
                <a:solidFill>
                  <a:schemeClr val="bg1"/>
                </a:solidFill>
                <a:latin typeface="+mj-lt" pitchFamily="34" charset="0"/>
                <a:ea typeface="+mj-lt" pitchFamily="34" charset="-122"/>
                <a:cs typeface="+mj-lt" pitchFamily="34" charset="-120"/>
              </a:rPr>
              <a:t>…</a:t>
            </a:r>
            <a:endParaRPr lang="en-US" sz="1500" dirty="0"/>
          </a:p>
          <a:p>
            <a:pPr algn="ctr" indent="0" marL="0">
              <a:buNone/>
            </a:pPr>
            <a:r>
              <a:rPr lang="en-US" sz="1500" b="1" dirty="0">
                <a:solidFill>
                  <a:schemeClr val="bg1"/>
                </a:solidFill>
                <a:latin typeface="+mj-lt" pitchFamily="34" charset="0"/>
                <a:ea typeface="+mj-lt" pitchFamily="34" charset="-122"/>
                <a:cs typeface="+mj-lt" pitchFamily="34" charset="-120"/>
              </a:rPr>
              <a:t>En</a:t>
            </a:r>
            <a:endParaRPr lang="en-US" sz="1500" dirty="0"/>
          </a:p>
        </p:txBody>
      </p:sp>
      <p:sp>
        <p:nvSpPr>
          <p:cNvPr id="29" name="text-122"/>
          <p:cNvSpPr txBox="1"/>
          <p:nvPr/>
        </p:nvSpPr>
        <p:spPr>
          <a:xfrm>
            <a:off x="7360920" y="4279392"/>
            <a:ext cx="1325880" cy="457200"/>
          </a:xfrm>
          <a:prstGeom prst="rect">
            <a:avLst/>
          </a:prstGeom>
          <a:noFill/>
          <a:ln/>
        </p:spPr>
        <p:txBody>
          <a:bodyPr wrap="square" lIns="0" tIns="0" rIns="0" bIns="0" rtlCol="0" anchor="t"/>
          <a:lstStyle/>
          <a:p>
            <a:pPr algn="ctr" indent="0" marL="0">
              <a:buNone/>
            </a:pPr>
            <a:r>
              <a:rPr lang="en-US" sz="1100" dirty="0">
                <a:solidFill>
                  <a:schemeClr val="accent5"/>
                </a:solidFill>
              </a:rPr>
              <a:t>Numbered findings</a:t>
            </a:r>
            <a:endParaRPr lang="en-US" sz="1100" dirty="0"/>
          </a:p>
        </p:txBody>
      </p:sp>
      <p:sp>
        <p:nvSpPr>
          <p:cNvPr id="30" name="arrow-123"/>
          <p:cNvSpPr/>
          <p:nvPr/>
        </p:nvSpPr>
        <p:spPr>
          <a:xfrm>
            <a:off x="7205472" y="3474720"/>
            <a:ext cx="265176" cy="914"/>
          </a:xfrm>
          <a:prstGeom prst="line">
            <a:avLst/>
          </a:prstGeom>
          <a:noFill/>
          <a:ln w="22225">
            <a:solidFill>
              <a:schemeClr val="accent5"/>
            </a:solidFill>
            <a:prstDash val="solid"/>
            <a:tailEnd type="triangle"/>
          </a:ln>
        </p:spPr>
      </p:sp>
      <p:sp>
        <p:nvSpPr>
          <p:cNvPr id="31" name="chain-step-124"/>
          <p:cNvSpPr/>
          <p:nvPr/>
        </p:nvSpPr>
        <p:spPr>
          <a:xfrm>
            <a:off x="8869680" y="1508760"/>
            <a:ext cx="2450592" cy="868680"/>
          </a:xfrm>
          <a:prstGeom prst="roundRect">
            <a:avLst>
              <a:gd name="adj" fmla="val 10526"/>
            </a:avLst>
          </a:prstGeom>
          <a:solidFill>
            <a:schemeClr val="bg1"/>
          </a:solidFill>
          <a:ln w="15875">
            <a:solidFill>
              <a:schemeClr val="accent1"/>
            </a:solidFill>
            <a:prstDash val="solid"/>
          </a:ln>
        </p:spPr>
      </p:sp>
      <p:sp>
        <p:nvSpPr>
          <p:cNvPr id="32" name="text-125"/>
          <p:cNvSpPr txBox="1"/>
          <p:nvPr/>
        </p:nvSpPr>
        <p:spPr>
          <a:xfrm>
            <a:off x="8979408" y="1508760"/>
            <a:ext cx="2231136" cy="868680"/>
          </a:xfrm>
          <a:prstGeom prst="rect">
            <a:avLst/>
          </a:prstGeom>
          <a:noFill/>
          <a:ln/>
        </p:spPr>
        <p:txBody>
          <a:bodyPr wrap="square" lIns="0" tIns="0" rIns="0" bIns="0" rtlCol="0" anchor="ctr"/>
          <a:lstStyle/>
          <a:p>
            <a:pPr algn="l" indent="0" marL="0">
              <a:buNone/>
            </a:pPr>
            <a:r>
              <a:rPr lang="en-US" sz="1300" b="1" dirty="0">
                <a:solidFill>
                  <a:schemeClr val="tx1"/>
                </a:solidFill>
              </a:rPr>
              <a:t>Nemotron drafts a verdict</a:t>
            </a:r>
            <a:endParaRPr lang="en-US" sz="1600" dirty="0"/>
          </a:p>
          <a:p>
            <a:pPr algn="l" indent="0" marL="0">
              <a:buNone/>
            </a:pPr>
            <a:r>
              <a:rPr lang="en-US" sz="1000" dirty="0">
                <a:solidFill>
                  <a:schemeClr val="accent5"/>
                </a:solidFill>
              </a:rPr>
              <a:t>via Meterless Nightshift. Every reason must cite finding ids.</a:t>
            </a:r>
            <a:endParaRPr lang="en-US" sz="1600" dirty="0"/>
          </a:p>
        </p:txBody>
      </p:sp>
      <p:sp>
        <p:nvSpPr>
          <p:cNvPr id="33" name="arrow-126"/>
          <p:cNvSpPr/>
          <p:nvPr/>
        </p:nvSpPr>
        <p:spPr>
          <a:xfrm>
            <a:off x="10094976" y="2395728"/>
            <a:ext cx="914" cy="210312"/>
          </a:xfrm>
          <a:prstGeom prst="line">
            <a:avLst/>
          </a:prstGeom>
          <a:noFill/>
          <a:ln w="22225">
            <a:solidFill>
              <a:schemeClr val="accent5"/>
            </a:solidFill>
            <a:prstDash val="solid"/>
            <a:tailEnd type="triangle"/>
          </a:ln>
        </p:spPr>
      </p:sp>
      <p:sp>
        <p:nvSpPr>
          <p:cNvPr id="34" name="chain-step-127"/>
          <p:cNvSpPr/>
          <p:nvPr/>
        </p:nvSpPr>
        <p:spPr>
          <a:xfrm>
            <a:off x="8869680" y="2624328"/>
            <a:ext cx="2450592" cy="868680"/>
          </a:xfrm>
          <a:prstGeom prst="roundRect">
            <a:avLst>
              <a:gd name="adj" fmla="val 10526"/>
            </a:avLst>
          </a:prstGeom>
          <a:solidFill>
            <a:schemeClr val="bg1"/>
          </a:solidFill>
          <a:ln w="15875">
            <a:solidFill>
              <a:schemeClr val="accent1"/>
            </a:solidFill>
            <a:prstDash val="solid"/>
          </a:ln>
        </p:spPr>
      </p:sp>
      <p:sp>
        <p:nvSpPr>
          <p:cNvPr id="35" name="text-128"/>
          <p:cNvSpPr txBox="1"/>
          <p:nvPr/>
        </p:nvSpPr>
        <p:spPr>
          <a:xfrm>
            <a:off x="8979408" y="2624328"/>
            <a:ext cx="2231136" cy="868680"/>
          </a:xfrm>
          <a:prstGeom prst="rect">
            <a:avLst/>
          </a:prstGeom>
          <a:noFill/>
          <a:ln/>
        </p:spPr>
        <p:txBody>
          <a:bodyPr wrap="square" lIns="0" tIns="0" rIns="0" bIns="0" rtlCol="0" anchor="ctr"/>
          <a:lstStyle/>
          <a:p>
            <a:pPr algn="l" indent="0" marL="0">
              <a:buNone/>
            </a:pPr>
            <a:r>
              <a:rPr lang="en-US" sz="1300" b="1" dirty="0">
                <a:solidFill>
                  <a:schemeClr val="tx1"/>
                </a:solidFill>
              </a:rPr>
              <a:t>Evaluator checks the draft</a:t>
            </a:r>
            <a:endParaRPr lang="en-US" sz="1600" dirty="0"/>
          </a:p>
          <a:p>
            <a:pPr algn="l" indent="0" marL="0">
              <a:buNone/>
            </a:pPr>
            <a:r>
              <a:rPr lang="en-US" sz="1000" dirty="0">
                <a:solidFill>
                  <a:schemeClr val="accent5"/>
                </a:solidFill>
              </a:rPr>
              <a:t>Valid JSON, real finding ids, no clash with decisive evidence</a:t>
            </a:r>
            <a:endParaRPr lang="en-US" sz="1600" dirty="0"/>
          </a:p>
        </p:txBody>
      </p:sp>
      <p:sp>
        <p:nvSpPr>
          <p:cNvPr id="36" name="arrow-129"/>
          <p:cNvSpPr/>
          <p:nvPr/>
        </p:nvSpPr>
        <p:spPr>
          <a:xfrm>
            <a:off x="10094976" y="3511296"/>
            <a:ext cx="914" cy="210312"/>
          </a:xfrm>
          <a:prstGeom prst="line">
            <a:avLst/>
          </a:prstGeom>
          <a:noFill/>
          <a:ln w="22225">
            <a:solidFill>
              <a:schemeClr val="accent5"/>
            </a:solidFill>
            <a:prstDash val="solid"/>
            <a:tailEnd type="triangle"/>
          </a:ln>
        </p:spPr>
      </p:sp>
      <p:sp>
        <p:nvSpPr>
          <p:cNvPr id="37" name="chain-step-130"/>
          <p:cNvSpPr/>
          <p:nvPr/>
        </p:nvSpPr>
        <p:spPr>
          <a:xfrm>
            <a:off x="8869680" y="3739896"/>
            <a:ext cx="2450592" cy="868680"/>
          </a:xfrm>
          <a:prstGeom prst="roundRect">
            <a:avLst>
              <a:gd name="adj" fmla="val 10526"/>
            </a:avLst>
          </a:prstGeom>
          <a:solidFill>
            <a:schemeClr val="bg1"/>
          </a:solidFill>
          <a:ln w="15875">
            <a:solidFill>
              <a:schemeClr val="accent1"/>
            </a:solidFill>
            <a:prstDash val="solid"/>
          </a:ln>
        </p:spPr>
      </p:sp>
      <p:sp>
        <p:nvSpPr>
          <p:cNvPr id="38" name="text-131"/>
          <p:cNvSpPr txBox="1"/>
          <p:nvPr/>
        </p:nvSpPr>
        <p:spPr>
          <a:xfrm>
            <a:off x="8979408" y="3739896"/>
            <a:ext cx="2231136" cy="868680"/>
          </a:xfrm>
          <a:prstGeom prst="rect">
            <a:avLst/>
          </a:prstGeom>
          <a:noFill/>
          <a:ln/>
        </p:spPr>
        <p:txBody>
          <a:bodyPr wrap="square" lIns="0" tIns="0" rIns="0" bIns="0" rtlCol="0" anchor="ctr"/>
          <a:lstStyle/>
          <a:p>
            <a:pPr algn="l" indent="0" marL="0">
              <a:buNone/>
            </a:pPr>
            <a:r>
              <a:rPr lang="en-US" sz="1300" b="1" dirty="0">
                <a:solidFill>
                  <a:schemeClr val="tx1"/>
                </a:solidFill>
              </a:rPr>
              <a:t>Safety floor</a:t>
            </a:r>
            <a:endParaRPr lang="en-US" sz="1600" dirty="0"/>
          </a:p>
          <a:p>
            <a:pPr algn="l" indent="0" marL="0">
              <a:buNone/>
            </a:pPr>
            <a:r>
              <a:rPr lang="en-US" sz="1000" dirty="0">
                <a:solidFill>
                  <a:schemeClr val="accent5"/>
                </a:solidFill>
              </a:rPr>
              <a:t>A blocklisted link or SEC-named operator can never come out safe</a:t>
            </a:r>
            <a:endParaRPr lang="en-US" sz="1600" dirty="0"/>
          </a:p>
        </p:txBody>
      </p:sp>
      <p:sp>
        <p:nvSpPr>
          <p:cNvPr id="39" name="arrow-132"/>
          <p:cNvSpPr/>
          <p:nvPr/>
        </p:nvSpPr>
        <p:spPr>
          <a:xfrm>
            <a:off x="10094976" y="4626864"/>
            <a:ext cx="914" cy="210312"/>
          </a:xfrm>
          <a:prstGeom prst="line">
            <a:avLst/>
          </a:prstGeom>
          <a:noFill/>
          <a:ln w="22225">
            <a:solidFill>
              <a:schemeClr val="accent5"/>
            </a:solidFill>
            <a:prstDash val="solid"/>
            <a:tailEnd type="triangle"/>
          </a:ln>
        </p:spPr>
      </p:sp>
      <p:sp>
        <p:nvSpPr>
          <p:cNvPr id="40" name="chain-step-133"/>
          <p:cNvSpPr/>
          <p:nvPr/>
        </p:nvSpPr>
        <p:spPr>
          <a:xfrm>
            <a:off x="8869680" y="4855464"/>
            <a:ext cx="2450592" cy="640080"/>
          </a:xfrm>
          <a:prstGeom prst="roundRect">
            <a:avLst>
              <a:gd name="adj" fmla="val 14286"/>
            </a:avLst>
          </a:prstGeom>
          <a:solidFill>
            <a:schemeClr val="tx2"/>
          </a:solidFill>
          <a:ln w="15875">
            <a:solidFill>
              <a:schemeClr val="tx2"/>
            </a:solidFill>
            <a:prstDash val="solid"/>
          </a:ln>
        </p:spPr>
      </p:sp>
      <p:sp>
        <p:nvSpPr>
          <p:cNvPr id="41" name="text-134"/>
          <p:cNvSpPr txBox="1"/>
          <p:nvPr/>
        </p:nvSpPr>
        <p:spPr>
          <a:xfrm>
            <a:off x="8979408" y="4855464"/>
            <a:ext cx="2231136" cy="640080"/>
          </a:xfrm>
          <a:prstGeom prst="rect">
            <a:avLst/>
          </a:prstGeom>
          <a:noFill/>
          <a:ln/>
        </p:spPr>
        <p:txBody>
          <a:bodyPr wrap="square" lIns="0" tIns="0" rIns="0" bIns="0" rtlCol="0" anchor="ctr"/>
          <a:lstStyle/>
          <a:p>
            <a:pPr algn="ctr" indent="0" marL="0">
              <a:buNone/>
            </a:pPr>
            <a:r>
              <a:rPr lang="en-US" sz="1300" b="1" dirty="0">
                <a:solidFill>
                  <a:schemeClr val="bg1"/>
                </a:solidFill>
              </a:rPr>
              <a:t>Reply</a:t>
            </a:r>
            <a:endParaRPr lang="en-US" sz="1600" dirty="0"/>
          </a:p>
        </p:txBody>
      </p:sp>
      <p:sp>
        <p:nvSpPr>
          <p:cNvPr id="42" name="line-135"/>
          <p:cNvSpPr/>
          <p:nvPr/>
        </p:nvSpPr>
        <p:spPr>
          <a:xfrm>
            <a:off x="11320272" y="3058668"/>
            <a:ext cx="164592" cy="914"/>
          </a:xfrm>
          <a:prstGeom prst="line">
            <a:avLst/>
          </a:prstGeom>
          <a:noFill/>
          <a:ln w="22225">
            <a:solidFill>
              <a:schemeClr val="accent5"/>
            </a:solidFill>
            <a:prstDash val="solid"/>
          </a:ln>
        </p:spPr>
      </p:sp>
      <p:sp>
        <p:nvSpPr>
          <p:cNvPr id="43" name="line-136"/>
          <p:cNvSpPr/>
          <p:nvPr/>
        </p:nvSpPr>
        <p:spPr>
          <a:xfrm flipV="1">
            <a:off x="11484864" y="1943100"/>
            <a:ext cx="914" cy="1115568"/>
          </a:xfrm>
          <a:prstGeom prst="line">
            <a:avLst/>
          </a:prstGeom>
          <a:noFill/>
          <a:ln w="22225">
            <a:solidFill>
              <a:schemeClr val="accent5"/>
            </a:solidFill>
            <a:prstDash val="solid"/>
          </a:ln>
        </p:spPr>
      </p:sp>
      <p:sp>
        <p:nvSpPr>
          <p:cNvPr id="44" name="line-137"/>
          <p:cNvSpPr/>
          <p:nvPr/>
        </p:nvSpPr>
        <p:spPr>
          <a:xfrm flipH="1">
            <a:off x="11338560" y="1943100"/>
            <a:ext cx="146304" cy="914"/>
          </a:xfrm>
          <a:prstGeom prst="line">
            <a:avLst/>
          </a:prstGeom>
          <a:noFill/>
          <a:ln w="22225">
            <a:solidFill>
              <a:schemeClr val="accent5"/>
            </a:solidFill>
            <a:prstDash val="solid"/>
            <a:tailEnd type="triangle"/>
          </a:ln>
        </p:spPr>
      </p:sp>
      <p:sp>
        <p:nvSpPr>
          <p:cNvPr id="45" name="text-138"/>
          <p:cNvSpPr txBox="1"/>
          <p:nvPr/>
        </p:nvSpPr>
        <p:spPr>
          <a:xfrm>
            <a:off x="11521440" y="1988820"/>
            <a:ext cx="219456" cy="1024128"/>
          </a:xfrm>
          <a:prstGeom prst="rect">
            <a:avLst/>
          </a:prstGeom>
          <a:noFill/>
          <a:ln/>
        </p:spPr>
        <p:txBody>
          <a:bodyPr wrap="square" lIns="0" tIns="0" rIns="0" bIns="0" rtlCol="0" anchor="ctr" vert="vert270"/>
          <a:lstStyle/>
          <a:p>
            <a:pPr algn="ctr" indent="0" marL="0">
              <a:buNone/>
            </a:pPr>
            <a:r>
              <a:rPr lang="en-US" sz="1000" dirty="0">
                <a:solidFill>
                  <a:schemeClr val="accent5"/>
                </a:solidFill>
              </a:rPr>
              <a:t>fails: 1 revision</a:t>
            </a:r>
            <a:endParaRPr lang="en-US" sz="1000" dirty="0"/>
          </a:p>
        </p:txBody>
      </p:sp>
      <p:sp>
        <p:nvSpPr>
          <p:cNvPr id="46" name="line-139"/>
          <p:cNvSpPr/>
          <p:nvPr/>
        </p:nvSpPr>
        <p:spPr>
          <a:xfrm>
            <a:off x="8577072" y="3474720"/>
            <a:ext cx="137160" cy="914"/>
          </a:xfrm>
          <a:prstGeom prst="line">
            <a:avLst/>
          </a:prstGeom>
          <a:noFill/>
          <a:ln w="22225">
            <a:solidFill>
              <a:schemeClr val="accent5"/>
            </a:solidFill>
            <a:prstDash val="solid"/>
          </a:ln>
        </p:spPr>
      </p:sp>
      <p:sp>
        <p:nvSpPr>
          <p:cNvPr id="47" name="line-140"/>
          <p:cNvSpPr/>
          <p:nvPr/>
        </p:nvSpPr>
        <p:spPr>
          <a:xfrm flipV="1">
            <a:off x="8714232" y="1943100"/>
            <a:ext cx="914" cy="1531620"/>
          </a:xfrm>
          <a:prstGeom prst="line">
            <a:avLst/>
          </a:prstGeom>
          <a:noFill/>
          <a:ln w="22225">
            <a:solidFill>
              <a:schemeClr val="accent5"/>
            </a:solidFill>
            <a:prstDash val="solid"/>
          </a:ln>
        </p:spPr>
      </p:sp>
      <p:sp>
        <p:nvSpPr>
          <p:cNvPr id="48" name="arrow-141"/>
          <p:cNvSpPr/>
          <p:nvPr/>
        </p:nvSpPr>
        <p:spPr>
          <a:xfrm>
            <a:off x="8714232" y="1943100"/>
            <a:ext cx="128016" cy="914"/>
          </a:xfrm>
          <a:prstGeom prst="line">
            <a:avLst/>
          </a:prstGeom>
          <a:noFill/>
          <a:ln w="22225">
            <a:solidFill>
              <a:schemeClr val="accent5"/>
            </a:solidFill>
            <a:prstDash val="solid"/>
            <a:tailEnd type="triangle"/>
          </a:ln>
        </p:spPr>
      </p:sp>
      <p:sp>
        <p:nvSpPr>
          <p:cNvPr id="49" name="text-142"/>
          <p:cNvSpPr txBox="1"/>
          <p:nvPr/>
        </p:nvSpPr>
        <p:spPr>
          <a:xfrm>
            <a:off x="548640" y="5806440"/>
            <a:ext cx="10515600" cy="457200"/>
          </a:xfrm>
          <a:prstGeom prst="rect">
            <a:avLst/>
          </a:prstGeom>
          <a:noFill/>
          <a:ln/>
        </p:spPr>
        <p:txBody>
          <a:bodyPr wrap="square" lIns="0" tIns="0" rIns="0" bIns="0" rtlCol="0" anchor="ctr"/>
          <a:lstStyle/>
          <a:p>
            <a:pPr indent="0" marL="0">
              <a:buNone/>
            </a:pPr>
            <a:r>
              <a:rPr lang="en-US" sz="1400" b="1" dirty="0">
                <a:solidFill>
                  <a:schemeClr val="tx1"/>
                </a:solidFill>
              </a:rPr>
              <a:t>Fallbacks: </a:t>
            </a:r>
            <a:pPr indent="0" marL="0">
              <a:buNone/>
            </a:pPr>
            <a:r>
              <a:rPr lang="en-US" sz="1400" dirty="0">
                <a:solidFill>
                  <a:schemeClr val="tx1"/>
                </a:solidFill>
              </a:rPr>
              <a:t>Nightshift → NVIDIA API → Gemini → offline rules.   </a:t>
            </a:r>
            <a:pPr indent="0" marL="0">
              <a:buNone/>
            </a:pPr>
            <a:r>
              <a:rPr lang="en-US" sz="1400" b="1" dirty="0">
                <a:solidFill>
                  <a:schemeClr val="tx1"/>
                </a:solidFill>
              </a:rPr>
              <a:t>Agent trace: </a:t>
            </a:r>
            <a:pPr indent="0" marL="0">
              <a:buNone/>
            </a:pPr>
            <a:r>
              <a:rPr lang="en-US" sz="1400" dirty="0">
                <a:solidFill>
                  <a:schemeClr val="tx1"/>
                </a:solidFill>
              </a:rPr>
              <a:t>every step logged, including which model handled the request.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Zetaris holds the facts behind every verdict</a:t>
            </a:r>
            <a:endParaRPr lang="en-US" sz="3400" dirty="0"/>
          </a:p>
        </p:txBody>
      </p:sp>
      <p:sp>
        <p:nvSpPr>
          <p:cNvPr id="3" name="card-143"/>
          <p:cNvSpPr/>
          <p:nvPr/>
        </p:nvSpPr>
        <p:spPr>
          <a:xfrm>
            <a:off x="548640" y="1417320"/>
            <a:ext cx="2514600" cy="2514600"/>
          </a:xfrm>
          <a:prstGeom prst="roundRect">
            <a:avLst>
              <a:gd name="adj" fmla="val 4364"/>
            </a:avLst>
          </a:prstGeom>
          <a:solidFill>
            <a:schemeClr val="bg2"/>
          </a:solidFill>
          <a:ln w="12700">
            <a:solidFill>
              <a:schemeClr val="bg2"/>
            </a:solidFill>
            <a:prstDash val="solid"/>
          </a:ln>
        </p:spPr>
      </p:sp>
      <p:sp>
        <p:nvSpPr>
          <p:cNvPr id="4" name="icon-circle-144"/>
          <p:cNvSpPr/>
          <p:nvPr/>
        </p:nvSpPr>
        <p:spPr>
          <a:xfrm>
            <a:off x="777240" y="1645920"/>
            <a:ext cx="548640" cy="548640"/>
          </a:xfrm>
          <a:prstGeom prst="ellipse">
            <a:avLst/>
          </a:prstGeom>
          <a:solidFill>
            <a:srgbClr val="0B8A4B"/>
          </a:solidFill>
          <a:ln w="12700">
            <a:solidFill>
              <a:srgbClr val="0B8A4B"/>
            </a:solidFill>
            <a:prstDash val="solid"/>
          </a:ln>
        </p:spPr>
      </p:sp>
      <p:pic>
        <p:nvPicPr>
          <p:cNvPr id="5" name="icon-FaDatabase-145"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6" name="text-146"/>
          <p:cNvSpPr txBox="1"/>
          <p:nvPr/>
        </p:nvSpPr>
        <p:spPr>
          <a:xfrm>
            <a:off x="777240" y="2286000"/>
            <a:ext cx="2148840" cy="411480"/>
          </a:xfrm>
          <a:prstGeom prst="rect">
            <a:avLst/>
          </a:prstGeom>
          <a:noFill/>
          <a:ln/>
        </p:spPr>
        <p:txBody>
          <a:bodyPr wrap="square" lIns="0" tIns="0" rIns="0" bIns="0" rtlCol="0" anchor="t"/>
          <a:lstStyle/>
          <a:p>
            <a:pPr indent="0" marL="0">
              <a:buNone/>
            </a:pPr>
            <a:r>
              <a:rPr lang="en-US" sz="1600" b="1" dirty="0">
                <a:solidFill>
                  <a:schemeClr val="tx1"/>
                </a:solidFill>
              </a:rPr>
              <a:t>Public JSON in the repo</a:t>
            </a:r>
            <a:endParaRPr lang="en-US" sz="1600" dirty="0"/>
          </a:p>
        </p:txBody>
      </p:sp>
      <p:sp>
        <p:nvSpPr>
          <p:cNvPr id="7" name="text-147"/>
          <p:cNvSpPr txBox="1"/>
          <p:nvPr/>
        </p:nvSpPr>
        <p:spPr>
          <a:xfrm>
            <a:off x="777240" y="2715768"/>
            <a:ext cx="2194560" cy="1143000"/>
          </a:xfrm>
          <a:prstGeom prst="rect">
            <a:avLst/>
          </a:prstGeom>
          <a:noFill/>
          <a:ln/>
        </p:spPr>
        <p:txBody>
          <a:bodyPr wrap="square" lIns="0" tIns="0" rIns="0" bIns="0" rtlCol="0" anchor="t"/>
          <a:lstStyle/>
          <a:p>
            <a:pPr indent="0" marL="0">
              <a:buNone/>
            </a:pPr>
            <a:r>
              <a:rPr lang="en-US" sz="1300" dirty="0">
                <a:solidFill>
                  <a:schemeClr val="accent5"/>
                </a:solidFill>
              </a:rPr>
              <a:t>Official accounts, regulator warnings and rules, SEC operator names from sec.gov.ng</a:t>
            </a:r>
            <a:endParaRPr lang="en-US" sz="1300" dirty="0"/>
          </a:p>
        </p:txBody>
      </p:sp>
      <p:sp>
        <p:nvSpPr>
          <p:cNvPr id="8" name="arrow-148"/>
          <p:cNvSpPr/>
          <p:nvPr/>
        </p:nvSpPr>
        <p:spPr>
          <a:xfrm>
            <a:off x="3099816" y="2674620"/>
            <a:ext cx="265176" cy="914"/>
          </a:xfrm>
          <a:prstGeom prst="line">
            <a:avLst/>
          </a:prstGeom>
          <a:noFill/>
          <a:ln w="22225">
            <a:solidFill>
              <a:schemeClr val="accent5"/>
            </a:solidFill>
            <a:prstDash val="solid"/>
            <a:tailEnd type="triangle"/>
          </a:ln>
        </p:spPr>
      </p:sp>
      <p:sp>
        <p:nvSpPr>
          <p:cNvPr id="9" name="card-149"/>
          <p:cNvSpPr/>
          <p:nvPr/>
        </p:nvSpPr>
        <p:spPr>
          <a:xfrm>
            <a:off x="3401568" y="1417320"/>
            <a:ext cx="2514600" cy="2514600"/>
          </a:xfrm>
          <a:prstGeom prst="roundRect">
            <a:avLst>
              <a:gd name="adj" fmla="val 4364"/>
            </a:avLst>
          </a:prstGeom>
          <a:solidFill>
            <a:schemeClr val="bg2"/>
          </a:solidFill>
          <a:ln w="12700">
            <a:solidFill>
              <a:schemeClr val="bg2"/>
            </a:solidFill>
            <a:prstDash val="solid"/>
          </a:ln>
        </p:spPr>
      </p:sp>
      <p:sp>
        <p:nvSpPr>
          <p:cNvPr id="10" name="icon-circle-150"/>
          <p:cNvSpPr/>
          <p:nvPr/>
        </p:nvSpPr>
        <p:spPr>
          <a:xfrm>
            <a:off x="3630168" y="1645920"/>
            <a:ext cx="548640" cy="548640"/>
          </a:xfrm>
          <a:prstGeom prst="ellipse">
            <a:avLst/>
          </a:prstGeom>
          <a:solidFill>
            <a:srgbClr val="0B8A4B"/>
          </a:solidFill>
          <a:ln w="12700">
            <a:solidFill>
              <a:srgbClr val="0B8A4B"/>
            </a:solidFill>
            <a:prstDash val="solid"/>
          </a:ln>
        </p:spPr>
      </p:sp>
      <p:pic>
        <p:nvPicPr>
          <p:cNvPr id="11" name="icon-FaServer-151" descr="preencoded.png">    </p:cNvPr>
          <p:cNvPicPr>
            <a:picLocks noChangeAspect="1"/>
          </p:cNvPicPr>
          <p:nvPr/>
        </p:nvPicPr>
        <p:blipFill>
          <a:blip r:embed="rId2"/>
          <a:stretch>
            <a:fillRect/>
          </a:stretch>
        </p:blipFill>
        <p:spPr>
          <a:xfrm>
            <a:off x="3767328" y="1783080"/>
            <a:ext cx="274320" cy="274320"/>
          </a:xfrm>
          <a:prstGeom prst="rect">
            <a:avLst/>
          </a:prstGeom>
        </p:spPr>
      </p:pic>
      <p:sp>
        <p:nvSpPr>
          <p:cNvPr id="12" name="text-152"/>
          <p:cNvSpPr txBox="1"/>
          <p:nvPr/>
        </p:nvSpPr>
        <p:spPr>
          <a:xfrm>
            <a:off x="3630168" y="2286000"/>
            <a:ext cx="2148840" cy="411480"/>
          </a:xfrm>
          <a:prstGeom prst="rect">
            <a:avLst/>
          </a:prstGeom>
          <a:noFill/>
          <a:ln/>
        </p:spPr>
        <p:txBody>
          <a:bodyPr wrap="square" lIns="0" tIns="0" rIns="0" bIns="0" rtlCol="0" anchor="t"/>
          <a:lstStyle/>
          <a:p>
            <a:pPr indent="0" marL="0">
              <a:buNone/>
            </a:pPr>
            <a:r>
              <a:rPr lang="en-US" sz="1600" b="1" dirty="0">
                <a:solidFill>
                  <a:schemeClr val="tx1"/>
                </a:solidFill>
              </a:rPr>
              <a:t>Lightning REST tables</a:t>
            </a:r>
            <a:endParaRPr lang="en-US" sz="1600" dirty="0"/>
          </a:p>
        </p:txBody>
      </p:sp>
      <p:sp>
        <p:nvSpPr>
          <p:cNvPr id="13" name="text-153"/>
          <p:cNvSpPr txBox="1"/>
          <p:nvPr/>
        </p:nvSpPr>
        <p:spPr>
          <a:xfrm>
            <a:off x="3630168" y="2715768"/>
            <a:ext cx="2194560" cy="1143000"/>
          </a:xfrm>
          <a:prstGeom prst="rect">
            <a:avLst/>
          </a:prstGeom>
          <a:noFill/>
          <a:ln/>
        </p:spPr>
        <p:txBody>
          <a:bodyPr wrap="square" lIns="0" tIns="0" rIns="0" bIns="0" rtlCol="0" anchor="t"/>
          <a:lstStyle/>
          <a:p>
            <a:pPr indent="0" marL="0">
              <a:buNone/>
            </a:pPr>
            <a:r>
              <a:rPr lang="en-US" sz="1300" dirty="0">
                <a:solidFill>
                  <a:schemeClr val="accent5"/>
                </a:solidFill>
              </a:rPr>
              <a:t>Each JSON file registered in Zetaris</a:t>
            </a:r>
            <a:endParaRPr lang="en-US" sz="1300" dirty="0"/>
          </a:p>
        </p:txBody>
      </p:sp>
      <p:sp>
        <p:nvSpPr>
          <p:cNvPr id="14" name="arrow-154"/>
          <p:cNvSpPr/>
          <p:nvPr/>
        </p:nvSpPr>
        <p:spPr>
          <a:xfrm>
            <a:off x="5952744" y="2674620"/>
            <a:ext cx="265176" cy="914"/>
          </a:xfrm>
          <a:prstGeom prst="line">
            <a:avLst/>
          </a:prstGeom>
          <a:noFill/>
          <a:ln w="22225">
            <a:solidFill>
              <a:schemeClr val="accent5"/>
            </a:solidFill>
            <a:prstDash val="solid"/>
            <a:tailEnd type="triangle"/>
          </a:ln>
        </p:spPr>
      </p:sp>
      <p:sp>
        <p:nvSpPr>
          <p:cNvPr id="15" name="card-155"/>
          <p:cNvSpPr/>
          <p:nvPr/>
        </p:nvSpPr>
        <p:spPr>
          <a:xfrm>
            <a:off x="6254496" y="1417320"/>
            <a:ext cx="2514600" cy="2514600"/>
          </a:xfrm>
          <a:prstGeom prst="roundRect">
            <a:avLst>
              <a:gd name="adj" fmla="val 4364"/>
            </a:avLst>
          </a:prstGeom>
          <a:solidFill>
            <a:schemeClr val="bg2"/>
          </a:solidFill>
          <a:ln w="12700">
            <a:solidFill>
              <a:schemeClr val="bg2"/>
            </a:solidFill>
            <a:prstDash val="solid"/>
          </a:ln>
        </p:spPr>
      </p:sp>
      <p:sp>
        <p:nvSpPr>
          <p:cNvPr id="16" name="icon-circle-156"/>
          <p:cNvSpPr/>
          <p:nvPr/>
        </p:nvSpPr>
        <p:spPr>
          <a:xfrm>
            <a:off x="6483096" y="1645920"/>
            <a:ext cx="548640" cy="548640"/>
          </a:xfrm>
          <a:prstGeom prst="ellipse">
            <a:avLst/>
          </a:prstGeom>
          <a:solidFill>
            <a:srgbClr val="0B8A4B"/>
          </a:solidFill>
          <a:ln w="12700">
            <a:solidFill>
              <a:srgbClr val="0B8A4B"/>
            </a:solidFill>
            <a:prstDash val="solid"/>
          </a:ln>
        </p:spPr>
      </p:sp>
      <p:pic>
        <p:nvPicPr>
          <p:cNvPr id="17" name="icon-FaListCheck-157" descr="preencoded.png">    </p:cNvPr>
          <p:cNvPicPr>
            <a:picLocks noChangeAspect="1"/>
          </p:cNvPicPr>
          <p:nvPr/>
        </p:nvPicPr>
        <p:blipFill>
          <a:blip r:embed="rId3"/>
          <a:stretch>
            <a:fillRect/>
          </a:stretch>
        </p:blipFill>
        <p:spPr>
          <a:xfrm>
            <a:off x="6620256" y="1783080"/>
            <a:ext cx="274320" cy="274320"/>
          </a:xfrm>
          <a:prstGeom prst="rect">
            <a:avLst/>
          </a:prstGeom>
        </p:spPr>
      </p:pic>
      <p:sp>
        <p:nvSpPr>
          <p:cNvPr id="18" name="text-158"/>
          <p:cNvSpPr txBox="1"/>
          <p:nvPr/>
        </p:nvSpPr>
        <p:spPr>
          <a:xfrm>
            <a:off x="6483096" y="2286000"/>
            <a:ext cx="2148840" cy="411480"/>
          </a:xfrm>
          <a:prstGeom prst="rect">
            <a:avLst/>
          </a:prstGeom>
          <a:noFill/>
          <a:ln/>
        </p:spPr>
        <p:txBody>
          <a:bodyPr wrap="square" lIns="0" tIns="0" rIns="0" bIns="0" rtlCol="0" anchor="t"/>
          <a:lstStyle/>
          <a:p>
            <a:pPr indent="0" marL="0">
              <a:buNone/>
            </a:pPr>
            <a:r>
              <a:rPr lang="en-US" sz="1600" b="1" dirty="0">
                <a:solidFill>
                  <a:schemeClr val="tx1"/>
                </a:solidFill>
              </a:rPr>
              <a:t>Flattened into views</a:t>
            </a:r>
            <a:endParaRPr lang="en-US" sz="1600" dirty="0"/>
          </a:p>
        </p:txBody>
      </p:sp>
      <p:sp>
        <p:nvSpPr>
          <p:cNvPr id="19" name="text-159"/>
          <p:cNvSpPr txBox="1"/>
          <p:nvPr/>
        </p:nvSpPr>
        <p:spPr>
          <a:xfrm>
            <a:off x="6483096" y="2715768"/>
            <a:ext cx="2194560" cy="11430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checkam.official_accounts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checkam.regulator_warnings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checkam.regulator_rules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checkam.sec_notices</a:t>
            </a:r>
            <a:endParaRPr lang="en-US" sz="1100" dirty="0"/>
          </a:p>
        </p:txBody>
      </p:sp>
      <p:sp>
        <p:nvSpPr>
          <p:cNvPr id="20" name="arrow-160"/>
          <p:cNvSpPr/>
          <p:nvPr/>
        </p:nvSpPr>
        <p:spPr>
          <a:xfrm>
            <a:off x="8805672" y="2674620"/>
            <a:ext cx="265176" cy="914"/>
          </a:xfrm>
          <a:prstGeom prst="line">
            <a:avLst/>
          </a:prstGeom>
          <a:noFill/>
          <a:ln w="22225">
            <a:solidFill>
              <a:schemeClr val="accent5"/>
            </a:solidFill>
            <a:prstDash val="solid"/>
            <a:tailEnd type="triangle"/>
          </a:ln>
        </p:spPr>
      </p:sp>
      <p:sp>
        <p:nvSpPr>
          <p:cNvPr id="21" name="card-161"/>
          <p:cNvSpPr/>
          <p:nvPr/>
        </p:nvSpPr>
        <p:spPr>
          <a:xfrm>
            <a:off x="9107424" y="1417320"/>
            <a:ext cx="2514600" cy="2514600"/>
          </a:xfrm>
          <a:prstGeom prst="roundRect">
            <a:avLst>
              <a:gd name="adj" fmla="val 4364"/>
            </a:avLst>
          </a:prstGeom>
          <a:solidFill>
            <a:schemeClr val="bg2"/>
          </a:solidFill>
          <a:ln w="12700">
            <a:solidFill>
              <a:schemeClr val="bg2"/>
            </a:solidFill>
            <a:prstDash val="solid"/>
          </a:ln>
        </p:spPr>
      </p:sp>
      <p:sp>
        <p:nvSpPr>
          <p:cNvPr id="22" name="icon-circle-162"/>
          <p:cNvSpPr/>
          <p:nvPr/>
        </p:nvSpPr>
        <p:spPr>
          <a:xfrm>
            <a:off x="9336024" y="1645920"/>
            <a:ext cx="548640" cy="548640"/>
          </a:xfrm>
          <a:prstGeom prst="ellipse">
            <a:avLst/>
          </a:prstGeom>
          <a:solidFill>
            <a:srgbClr val="0B8A4B"/>
          </a:solidFill>
          <a:ln w="12700">
            <a:solidFill>
              <a:srgbClr val="0B8A4B"/>
            </a:solidFill>
            <a:prstDash val="solid"/>
          </a:ln>
        </p:spPr>
      </p:sp>
      <p:pic>
        <p:nvPicPr>
          <p:cNvPr id="23" name="icon-FaRoute-163" descr="preencoded.png">    </p:cNvPr>
          <p:cNvPicPr>
            <a:picLocks noChangeAspect="1"/>
          </p:cNvPicPr>
          <p:nvPr/>
        </p:nvPicPr>
        <p:blipFill>
          <a:blip r:embed="rId4"/>
          <a:stretch>
            <a:fillRect/>
          </a:stretch>
        </p:blipFill>
        <p:spPr>
          <a:xfrm>
            <a:off x="9473184" y="1783080"/>
            <a:ext cx="274320" cy="274320"/>
          </a:xfrm>
          <a:prstGeom prst="rect">
            <a:avLst/>
          </a:prstGeom>
        </p:spPr>
      </p:pic>
      <p:sp>
        <p:nvSpPr>
          <p:cNvPr id="24" name="text-164"/>
          <p:cNvSpPr txBox="1"/>
          <p:nvPr/>
        </p:nvSpPr>
        <p:spPr>
          <a:xfrm>
            <a:off x="9336024" y="2286000"/>
            <a:ext cx="2148840" cy="411480"/>
          </a:xfrm>
          <a:prstGeom prst="rect">
            <a:avLst/>
          </a:prstGeom>
          <a:noFill/>
          <a:ln/>
        </p:spPr>
        <p:txBody>
          <a:bodyPr wrap="square" lIns="0" tIns="0" rIns="0" bIns="0" rtlCol="0" anchor="t"/>
          <a:lstStyle/>
          <a:p>
            <a:pPr indent="0" marL="0">
              <a:buNone/>
            </a:pPr>
            <a:r>
              <a:rPr lang="en-US" sz="1600" b="1" dirty="0">
                <a:solidFill>
                  <a:schemeClr val="tx1"/>
                </a:solidFill>
              </a:rPr>
              <a:t>Loaded with SQL</a:t>
            </a:r>
            <a:endParaRPr lang="en-US" sz="1600" dirty="0"/>
          </a:p>
        </p:txBody>
      </p:sp>
      <p:sp>
        <p:nvSpPr>
          <p:cNvPr id="25" name="text-165"/>
          <p:cNvSpPr txBox="1"/>
          <p:nvPr/>
        </p:nvSpPr>
        <p:spPr>
          <a:xfrm>
            <a:off x="9336024" y="2715768"/>
            <a:ext cx="2194560" cy="1143000"/>
          </a:xfrm>
          <a:prstGeom prst="rect">
            <a:avLst/>
          </a:prstGeom>
          <a:noFill/>
          <a:ln/>
        </p:spPr>
        <p:txBody>
          <a:bodyPr wrap="square" lIns="0" tIns="0" rIns="0" bIns="0" rtlCol="0" anchor="t"/>
          <a:lstStyle/>
          <a:p>
            <a:pPr indent="0" marL="0">
              <a:buNone/>
            </a:pPr>
            <a:r>
              <a:rPr lang="en-US" sz="1300" dirty="0">
                <a:solidFill>
                  <a:schemeClr val="accent5"/>
                </a:solidFill>
              </a:rPr>
              <a:t>Over Zetaris’s REST API when the bot starts</a:t>
            </a:r>
            <a:endParaRPr lang="en-US" sz="1300" dirty="0"/>
          </a:p>
        </p:txBody>
      </p:sp>
      <p:sp>
        <p:nvSpPr>
          <p:cNvPr id="26" name="text-166"/>
          <p:cNvSpPr txBox="1"/>
          <p:nvPr/>
        </p:nvSpPr>
        <p:spPr>
          <a:xfrm>
            <a:off x="548640" y="406908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37</a:t>
            </a:r>
            <a:endParaRPr lang="en-US" sz="4400" dirty="0"/>
          </a:p>
        </p:txBody>
      </p:sp>
      <p:sp>
        <p:nvSpPr>
          <p:cNvPr id="27" name="text-167"/>
          <p:cNvSpPr txBox="1"/>
          <p:nvPr/>
        </p:nvSpPr>
        <p:spPr>
          <a:xfrm>
            <a:off x="548640" y="4800600"/>
            <a:ext cx="3566160" cy="365760"/>
          </a:xfrm>
          <a:prstGeom prst="rect">
            <a:avLst/>
          </a:prstGeom>
          <a:noFill/>
          <a:ln/>
        </p:spPr>
        <p:txBody>
          <a:bodyPr wrap="square" lIns="0" tIns="0" rIns="0" bIns="0" rtlCol="0" anchor="t"/>
          <a:lstStyle/>
          <a:p>
            <a:pPr indent="0" marL="0">
              <a:buNone/>
            </a:pPr>
            <a:r>
              <a:rPr lang="en-US" sz="1400" dirty="0">
                <a:solidFill>
                  <a:schemeClr val="tx1"/>
                </a:solidFill>
              </a:rPr>
              <a:t>organisations’ official sites and X accounts</a:t>
            </a:r>
            <a:endParaRPr lang="en-US" sz="1400" dirty="0"/>
          </a:p>
        </p:txBody>
      </p:sp>
      <p:sp>
        <p:nvSpPr>
          <p:cNvPr id="28" name="text-168"/>
          <p:cNvSpPr txBox="1"/>
          <p:nvPr/>
        </p:nvSpPr>
        <p:spPr>
          <a:xfrm>
            <a:off x="4297680" y="406908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32</a:t>
            </a:r>
            <a:endParaRPr lang="en-US" sz="4400" dirty="0"/>
          </a:p>
        </p:txBody>
      </p:sp>
      <p:sp>
        <p:nvSpPr>
          <p:cNvPr id="29" name="text-169"/>
          <p:cNvSpPr txBox="1"/>
          <p:nvPr/>
        </p:nvSpPr>
        <p:spPr>
          <a:xfrm>
            <a:off x="4297680" y="4800600"/>
            <a:ext cx="3566160" cy="365760"/>
          </a:xfrm>
          <a:prstGeom prst="rect">
            <a:avLst/>
          </a:prstGeom>
          <a:noFill/>
          <a:ln/>
        </p:spPr>
        <p:txBody>
          <a:bodyPr wrap="square" lIns="0" tIns="0" rIns="0" bIns="0" rtlCol="0" anchor="t"/>
          <a:lstStyle/>
          <a:p>
            <a:pPr indent="0" marL="0">
              <a:buNone/>
            </a:pPr>
            <a:r>
              <a:rPr lang="en-US" sz="1400" dirty="0">
                <a:solidFill>
                  <a:schemeClr val="tx1"/>
                </a:solidFill>
              </a:rPr>
              <a:t>SEC-named operators extracted from sec.gov.ng</a:t>
            </a:r>
            <a:endParaRPr lang="en-US" sz="1400" dirty="0"/>
          </a:p>
        </p:txBody>
      </p:sp>
      <p:sp>
        <p:nvSpPr>
          <p:cNvPr id="30" name="text-170"/>
          <p:cNvSpPr txBox="1"/>
          <p:nvPr/>
        </p:nvSpPr>
        <p:spPr>
          <a:xfrm>
            <a:off x="8046720" y="406908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4</a:t>
            </a:r>
            <a:endParaRPr lang="en-US" sz="4400" dirty="0"/>
          </a:p>
        </p:txBody>
      </p:sp>
      <p:sp>
        <p:nvSpPr>
          <p:cNvPr id="31" name="text-171"/>
          <p:cNvSpPr txBox="1"/>
          <p:nvPr/>
        </p:nvSpPr>
        <p:spPr>
          <a:xfrm>
            <a:off x="8046720" y="4800600"/>
            <a:ext cx="3566160" cy="365760"/>
          </a:xfrm>
          <a:prstGeom prst="rect">
            <a:avLst/>
          </a:prstGeom>
          <a:noFill/>
          <a:ln/>
        </p:spPr>
        <p:txBody>
          <a:bodyPr wrap="square" lIns="0" tIns="0" rIns="0" bIns="0" rtlCol="0" anchor="t"/>
          <a:lstStyle/>
          <a:p>
            <a:pPr indent="0" marL="0">
              <a:buNone/>
            </a:pPr>
            <a:r>
              <a:rPr lang="en-US" sz="1400" dirty="0">
                <a:solidFill>
                  <a:schemeClr val="tx1"/>
                </a:solidFill>
              </a:rPr>
              <a:t>views CheckAm reads</a:t>
            </a:r>
            <a:endParaRPr lang="en-US" sz="1400" dirty="0"/>
          </a:p>
        </p:txBody>
      </p:sp>
      <p:sp>
        <p:nvSpPr>
          <p:cNvPr id="32" name="card-172"/>
          <p:cNvSpPr/>
          <p:nvPr/>
        </p:nvSpPr>
        <p:spPr>
          <a:xfrm>
            <a:off x="548640" y="5349240"/>
            <a:ext cx="11091672" cy="868680"/>
          </a:xfrm>
          <a:prstGeom prst="roundRect">
            <a:avLst>
              <a:gd name="adj" fmla="val 12632"/>
            </a:avLst>
          </a:prstGeom>
          <a:solidFill>
            <a:schemeClr val="tx2"/>
          </a:solidFill>
          <a:ln w="12700">
            <a:solidFill>
              <a:schemeClr val="tx2"/>
            </a:solidFill>
            <a:prstDash val="solid"/>
          </a:ln>
        </p:spPr>
      </p:sp>
      <p:sp>
        <p:nvSpPr>
          <p:cNvPr id="33" name="text-173"/>
          <p:cNvSpPr txBox="1"/>
          <p:nvPr/>
        </p:nvSpPr>
        <p:spPr>
          <a:xfrm>
            <a:off x="822960" y="5349240"/>
            <a:ext cx="10607040" cy="868680"/>
          </a:xfrm>
          <a:prstGeom prst="rect">
            <a:avLst/>
          </a:prstGeom>
          <a:noFill/>
          <a:ln/>
        </p:spPr>
        <p:txBody>
          <a:bodyPr wrap="square" lIns="0" tIns="0" rIns="0" bIns="0" rtlCol="0" anchor="ctr"/>
          <a:lstStyle/>
          <a:p>
            <a:pPr indent="0" marL="0">
              <a:buNone/>
            </a:pPr>
            <a:r>
              <a:rPr lang="en-US" sz="1600" b="1" dirty="0">
                <a:solidFill>
                  <a:schemeClr val="bg1"/>
                </a:solidFill>
              </a:rPr>
              <a:t>Zetaris facts first, </a:t>
            </a:r>
            <a:pPr indent="0" marL="0">
              <a:buNone/>
            </a:pPr>
            <a:r>
              <a:rPr lang="en-US" sz="1600" dirty="0">
                <a:solidFill>
                  <a:schemeClr val="bg1"/>
                </a:solidFill>
              </a:rPr>
              <a:t>web data (RDAP, blocklists, Tavily) for context. Without Zetaris, sample mode loads the same JSON locally.</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Meterless runs the model and the memory</a:t>
            </a:r>
            <a:endParaRPr lang="en-US" sz="3400" dirty="0"/>
          </a:p>
        </p:txBody>
      </p:sp>
      <p:sp>
        <p:nvSpPr>
          <p:cNvPr id="3" name="card-174"/>
          <p:cNvSpPr/>
          <p:nvPr/>
        </p:nvSpPr>
        <p:spPr>
          <a:xfrm>
            <a:off x="548640" y="1417320"/>
            <a:ext cx="5349240" cy="2971800"/>
          </a:xfrm>
          <a:prstGeom prst="roundRect">
            <a:avLst>
              <a:gd name="adj" fmla="val 3692"/>
            </a:avLst>
          </a:prstGeom>
          <a:solidFill>
            <a:schemeClr val="bg2"/>
          </a:solidFill>
          <a:ln w="12700">
            <a:solidFill>
              <a:schemeClr val="bg2"/>
            </a:solidFill>
            <a:prstDash val="solid"/>
          </a:ln>
        </p:spPr>
      </p:sp>
      <p:sp>
        <p:nvSpPr>
          <p:cNvPr id="4" name="icon-circle-175"/>
          <p:cNvSpPr/>
          <p:nvPr/>
        </p:nvSpPr>
        <p:spPr>
          <a:xfrm>
            <a:off x="822960" y="1691640"/>
            <a:ext cx="640080" cy="640080"/>
          </a:xfrm>
          <a:prstGeom prst="ellipse">
            <a:avLst/>
          </a:prstGeom>
          <a:solidFill>
            <a:srgbClr val="0D2B1F"/>
          </a:solidFill>
          <a:ln w="12700">
            <a:solidFill>
              <a:srgbClr val="0D2B1F"/>
            </a:solidFill>
            <a:prstDash val="solid"/>
          </a:ln>
        </p:spPr>
      </p:sp>
      <p:pic>
        <p:nvPicPr>
          <p:cNvPr id="5" name="icon-FaRoute-176"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text-177"/>
          <p:cNvSpPr txBox="1"/>
          <p:nvPr/>
        </p:nvSpPr>
        <p:spPr>
          <a:xfrm>
            <a:off x="1645920" y="1691640"/>
            <a:ext cx="4069080" cy="640080"/>
          </a:xfrm>
          <a:prstGeom prst="rect">
            <a:avLst/>
          </a:prstGeom>
          <a:noFill/>
          <a:ln/>
        </p:spPr>
        <p:txBody>
          <a:bodyPr wrap="square" lIns="0" tIns="0" rIns="0" bIns="0" rtlCol="0" anchor="ctr"/>
          <a:lstStyle/>
          <a:p>
            <a:pPr indent="0" marL="0">
              <a:buNone/>
            </a:pPr>
            <a:r>
              <a:rPr lang="en-US" sz="2000" b="1" dirty="0">
                <a:solidFill>
                  <a:schemeClr val="tx1"/>
                </a:solidFill>
              </a:rPr>
              <a:t>Nightshift: the AI provider</a:t>
            </a:r>
            <a:endParaRPr lang="en-US" sz="2000" dirty="0"/>
          </a:p>
        </p:txBody>
      </p:sp>
      <p:sp>
        <p:nvSpPr>
          <p:cNvPr id="7" name="text-178"/>
          <p:cNvSpPr txBox="1"/>
          <p:nvPr/>
        </p:nvSpPr>
        <p:spPr>
          <a:xfrm>
            <a:off x="822960" y="2514600"/>
            <a:ext cx="480060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OpenAI-compatible Runtime, bearer token, meterless-app header</a:t>
            </a:r>
            <a:endParaRPr lang="en-US" sz="1600" dirty="0"/>
          </a:p>
          <a:p>
            <a:pPr marL="342900" indent="-342900">
              <a:spcAft>
                <a:spcPts val="800"/>
              </a:spcAft>
              <a:buSzPct val="100000"/>
              <a:buChar char="•"/>
            </a:pPr>
            <a:r>
              <a:rPr lang="en-US" sz="1600" dirty="0">
                <a:solidFill>
                  <a:schemeClr val="tx1"/>
                </a:solidFill>
              </a:rPr>
              <a:t>Model discovery picks a Nemotron-backed route</a:t>
            </a:r>
            <a:endParaRPr lang="en-US" sz="1600" dirty="0"/>
          </a:p>
          <a:p>
            <a:pPr marL="342900" indent="-342900">
              <a:spcAft>
                <a:spcPts val="800"/>
              </a:spcAft>
              <a:buSzPct val="100000"/>
              <a:buChar char="•"/>
            </a:pPr>
            <a:r>
              <a:rPr lang="en-US" sz="1600" dirty="0">
                <a:solidFill>
                  <a:schemeClr val="tx1"/>
                </a:solidFill>
              </a:rPr>
              <a:t>The NVIDIA key lives in Nightshift’s Providers tab, not in the app</a:t>
            </a:r>
            <a:endParaRPr lang="en-US" sz="1600" dirty="0"/>
          </a:p>
        </p:txBody>
      </p:sp>
      <p:sp>
        <p:nvSpPr>
          <p:cNvPr id="8" name="card-179"/>
          <p:cNvSpPr/>
          <p:nvPr/>
        </p:nvSpPr>
        <p:spPr>
          <a:xfrm>
            <a:off x="6291072" y="1417320"/>
            <a:ext cx="5349240" cy="2971800"/>
          </a:xfrm>
          <a:prstGeom prst="roundRect">
            <a:avLst>
              <a:gd name="adj" fmla="val 3692"/>
            </a:avLst>
          </a:prstGeom>
          <a:solidFill>
            <a:schemeClr val="bg2"/>
          </a:solidFill>
          <a:ln w="12700">
            <a:solidFill>
              <a:schemeClr val="bg2"/>
            </a:solidFill>
            <a:prstDash val="solid"/>
          </a:ln>
        </p:spPr>
      </p:sp>
      <p:sp>
        <p:nvSpPr>
          <p:cNvPr id="9" name="icon-circle-180"/>
          <p:cNvSpPr/>
          <p:nvPr/>
        </p:nvSpPr>
        <p:spPr>
          <a:xfrm>
            <a:off x="6565392" y="1691640"/>
            <a:ext cx="640080" cy="640080"/>
          </a:xfrm>
          <a:prstGeom prst="ellipse">
            <a:avLst/>
          </a:prstGeom>
          <a:solidFill>
            <a:srgbClr val="0D2B1F"/>
          </a:solidFill>
          <a:ln w="12700">
            <a:solidFill>
              <a:srgbClr val="0D2B1F"/>
            </a:solidFill>
            <a:prstDash val="solid"/>
          </a:ln>
        </p:spPr>
      </p:sp>
      <p:pic>
        <p:nvPicPr>
          <p:cNvPr id="10" name="icon-FaBrain-181" descr="preencoded.png">    </p:cNvPr>
          <p:cNvPicPr>
            <a:picLocks noChangeAspect="1"/>
          </p:cNvPicPr>
          <p:nvPr/>
        </p:nvPicPr>
        <p:blipFill>
          <a:blip r:embed="rId2"/>
          <a:stretch>
            <a:fillRect/>
          </a:stretch>
        </p:blipFill>
        <p:spPr>
          <a:xfrm>
            <a:off x="6725412" y="1851660"/>
            <a:ext cx="320040" cy="320040"/>
          </a:xfrm>
          <a:prstGeom prst="rect">
            <a:avLst/>
          </a:prstGeom>
        </p:spPr>
      </p:pic>
      <p:sp>
        <p:nvSpPr>
          <p:cNvPr id="11" name="text-182"/>
          <p:cNvSpPr txBox="1"/>
          <p:nvPr/>
        </p:nvSpPr>
        <p:spPr>
          <a:xfrm>
            <a:off x="7388352" y="1691640"/>
            <a:ext cx="4069080" cy="640080"/>
          </a:xfrm>
          <a:prstGeom prst="rect">
            <a:avLst/>
          </a:prstGeom>
          <a:noFill/>
          <a:ln/>
        </p:spPr>
        <p:txBody>
          <a:bodyPr wrap="square" lIns="0" tIns="0" rIns="0" bIns="0" rtlCol="0" anchor="ctr"/>
          <a:lstStyle/>
          <a:p>
            <a:pPr indent="0" marL="0">
              <a:buNone/>
            </a:pPr>
            <a:r>
              <a:rPr lang="en-US" sz="2000" b="1" dirty="0">
                <a:solidFill>
                  <a:schemeClr val="tx1"/>
                </a:solidFill>
              </a:rPr>
              <a:t>Engine H-MEM: shared memory</a:t>
            </a:r>
            <a:endParaRPr lang="en-US" sz="2000" dirty="0"/>
          </a:p>
        </p:txBody>
      </p:sp>
      <p:sp>
        <p:nvSpPr>
          <p:cNvPr id="12" name="text-183"/>
          <p:cNvSpPr txBox="1"/>
          <p:nvPr/>
        </p:nvSpPr>
        <p:spPr>
          <a:xfrm>
            <a:off x="6565392" y="2514600"/>
            <a:ext cx="4800600"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Each check stores the account numbers, phones, sites and handles scammers reuse. Never the message text.</a:t>
            </a:r>
            <a:endParaRPr lang="en-US" sz="1600" dirty="0"/>
          </a:p>
          <a:p>
            <a:pPr marL="342900" indent="-342900">
              <a:spcAft>
                <a:spcPts val="800"/>
              </a:spcAft>
              <a:buSzPct val="100000"/>
              <a:buChar char="•"/>
            </a:pPr>
            <a:r>
              <a:rPr lang="en-US" sz="1600" dirty="0">
                <a:solidFill>
                  <a:schemeClr val="tx1"/>
                </a:solidFill>
              </a:rPr>
              <a:t>Later checks find them with H-MEM’s hybrid scoring</a:t>
            </a:r>
            <a:endParaRPr lang="en-US" sz="1600" dirty="0"/>
          </a:p>
          <a:p>
            <a:pPr marL="342900" indent="-342900">
              <a:spcAft>
                <a:spcPts val="800"/>
              </a:spcAft>
              <a:buSzPct val="100000"/>
              <a:buChar char="•"/>
            </a:pPr>
            <a:r>
              <a:rPr lang="en-US" sz="1600" dirty="0">
                <a:solidFill>
                  <a:schemeClr val="tx1"/>
                </a:solidFill>
              </a:rPr>
              <a:t>13/13 H-MEM conformance checks pass (Python port), plus a two-session test</a:t>
            </a:r>
            <a:endParaRPr lang="en-US" sz="1600" dirty="0"/>
          </a:p>
        </p:txBody>
      </p:sp>
      <p:sp>
        <p:nvSpPr>
          <p:cNvPr id="13" name="card-184"/>
          <p:cNvSpPr/>
          <p:nvPr/>
        </p:nvSpPr>
        <p:spPr>
          <a:xfrm>
            <a:off x="548640" y="4800600"/>
            <a:ext cx="4572000" cy="1234440"/>
          </a:xfrm>
          <a:prstGeom prst="roundRect">
            <a:avLst>
              <a:gd name="adj" fmla="val 8889"/>
            </a:avLst>
          </a:prstGeom>
          <a:solidFill>
            <a:schemeClr val="bg1"/>
          </a:solidFill>
          <a:ln w="12700">
            <a:solidFill>
              <a:schemeClr val="accent6"/>
            </a:solidFill>
            <a:prstDash val="solid"/>
          </a:ln>
        </p:spPr>
      </p:sp>
      <p:sp>
        <p:nvSpPr>
          <p:cNvPr id="14" name="verdict-dot-185"/>
          <p:cNvSpPr/>
          <p:nvPr/>
        </p:nvSpPr>
        <p:spPr>
          <a:xfrm>
            <a:off x="822960" y="5239512"/>
            <a:ext cx="365760" cy="365760"/>
          </a:xfrm>
          <a:prstGeom prst="ellipse">
            <a:avLst/>
          </a:prstGeom>
          <a:solidFill>
            <a:schemeClr val="accent2"/>
          </a:solidFill>
          <a:ln w="12700">
            <a:solidFill>
              <a:schemeClr val="accent2"/>
            </a:solidFill>
            <a:prstDash val="solid"/>
          </a:ln>
        </p:spPr>
      </p:sp>
      <p:sp>
        <p:nvSpPr>
          <p:cNvPr id="15" name="text-186"/>
          <p:cNvSpPr txBox="1"/>
          <p:nvPr/>
        </p:nvSpPr>
        <p:spPr>
          <a:xfrm>
            <a:off x="1371600" y="4800600"/>
            <a:ext cx="3566160" cy="1234440"/>
          </a:xfrm>
          <a:prstGeom prst="rect">
            <a:avLst/>
          </a:prstGeom>
          <a:noFill/>
          <a:ln/>
        </p:spPr>
        <p:txBody>
          <a:bodyPr wrap="square" lIns="0" tIns="0" rIns="0" bIns="0" rtlCol="0" anchor="ctr"/>
          <a:lstStyle/>
          <a:p>
            <a:pPr indent="0" marL="0">
              <a:buNone/>
            </a:pPr>
            <a:r>
              <a:rPr lang="en-US" sz="1600" b="1" dirty="0">
                <a:solidFill>
                  <a:schemeClr val="tx1"/>
                </a:solidFill>
              </a:rPr>
              <a:t>Enugu</a:t>
            </a:r>
            <a:endParaRPr lang="en-US" sz="1600" dirty="0"/>
          </a:p>
          <a:p>
            <a:pPr indent="0" marL="0">
              <a:buNone/>
            </a:pPr>
            <a:r>
              <a:rPr lang="en-US" sz="1600" dirty="0">
                <a:solidFill>
                  <a:schemeClr val="tx1"/>
                </a:solidFill>
              </a:rPr>
              <a:t>Someone reports a scam account</a:t>
            </a:r>
            <a:endParaRPr lang="en-US" sz="1600" dirty="0"/>
          </a:p>
        </p:txBody>
      </p:sp>
      <p:sp>
        <p:nvSpPr>
          <p:cNvPr id="16" name="arrow-187"/>
          <p:cNvSpPr/>
          <p:nvPr/>
        </p:nvSpPr>
        <p:spPr>
          <a:xfrm>
            <a:off x="5212080" y="5417820"/>
            <a:ext cx="1783080" cy="914"/>
          </a:xfrm>
          <a:prstGeom prst="line">
            <a:avLst/>
          </a:prstGeom>
          <a:noFill/>
          <a:ln w="22225">
            <a:solidFill>
              <a:schemeClr val="accent1"/>
            </a:solidFill>
            <a:prstDash val="solid"/>
            <a:tailEnd type="triangle"/>
          </a:ln>
        </p:spPr>
      </p:sp>
      <p:sp>
        <p:nvSpPr>
          <p:cNvPr id="17" name="text-188"/>
          <p:cNvSpPr txBox="1"/>
          <p:nvPr/>
        </p:nvSpPr>
        <p:spPr>
          <a:xfrm>
            <a:off x="5212080" y="4937760"/>
            <a:ext cx="1783080" cy="320040"/>
          </a:xfrm>
          <a:prstGeom prst="rect">
            <a:avLst/>
          </a:prstGeom>
          <a:noFill/>
          <a:ln/>
        </p:spPr>
        <p:txBody>
          <a:bodyPr wrap="square" lIns="0" tIns="0" rIns="0" bIns="0" rtlCol="0" anchor="t"/>
          <a:lstStyle/>
          <a:p>
            <a:pPr algn="ctr" indent="0" marL="0">
              <a:buNone/>
            </a:pPr>
            <a:r>
              <a:rPr lang="en-US" sz="1200" b="1" dirty="0">
                <a:solidFill>
                  <a:schemeClr val="accent1"/>
                </a:solidFill>
              </a:rPr>
              <a:t>H-MEM</a:t>
            </a:r>
            <a:endParaRPr lang="en-US" sz="1200" dirty="0"/>
          </a:p>
        </p:txBody>
      </p:sp>
      <p:sp>
        <p:nvSpPr>
          <p:cNvPr id="18" name="card-189"/>
          <p:cNvSpPr/>
          <p:nvPr/>
        </p:nvSpPr>
        <p:spPr>
          <a:xfrm>
            <a:off x="7068312" y="4800600"/>
            <a:ext cx="4572000" cy="1234440"/>
          </a:xfrm>
          <a:prstGeom prst="roundRect">
            <a:avLst>
              <a:gd name="adj" fmla="val 8889"/>
            </a:avLst>
          </a:prstGeom>
          <a:solidFill>
            <a:schemeClr val="tx2"/>
          </a:solidFill>
          <a:ln w="12700">
            <a:solidFill>
              <a:schemeClr val="tx2"/>
            </a:solidFill>
            <a:prstDash val="solid"/>
          </a:ln>
        </p:spPr>
      </p:sp>
      <p:sp>
        <p:nvSpPr>
          <p:cNvPr id="19" name="icon-circle-190"/>
          <p:cNvSpPr/>
          <p:nvPr/>
        </p:nvSpPr>
        <p:spPr>
          <a:xfrm>
            <a:off x="7342632" y="5193792"/>
            <a:ext cx="457200" cy="457200"/>
          </a:xfrm>
          <a:prstGeom prst="ellipse">
            <a:avLst/>
          </a:prstGeom>
          <a:solidFill>
            <a:srgbClr val="0B8A4B"/>
          </a:solidFill>
          <a:ln w="12700">
            <a:solidFill>
              <a:srgbClr val="0B8A4B"/>
            </a:solidFill>
            <a:prstDash val="solid"/>
          </a:ln>
        </p:spPr>
      </p:sp>
      <p:pic>
        <p:nvPicPr>
          <p:cNvPr id="20" name="icon-FaShieldHalved-191" descr="preencoded.png">    </p:cNvPr>
          <p:cNvPicPr>
            <a:picLocks noChangeAspect="1"/>
          </p:cNvPicPr>
          <p:nvPr/>
        </p:nvPicPr>
        <p:blipFill>
          <a:blip r:embed="rId3"/>
          <a:stretch>
            <a:fillRect/>
          </a:stretch>
        </p:blipFill>
        <p:spPr>
          <a:xfrm>
            <a:off x="7456932" y="5308092"/>
            <a:ext cx="228600" cy="228600"/>
          </a:xfrm>
          <a:prstGeom prst="rect">
            <a:avLst/>
          </a:prstGeom>
        </p:spPr>
      </p:pic>
      <p:sp>
        <p:nvSpPr>
          <p:cNvPr id="21" name="text-192"/>
          <p:cNvSpPr txBox="1"/>
          <p:nvPr/>
        </p:nvSpPr>
        <p:spPr>
          <a:xfrm>
            <a:off x="8001000" y="4800600"/>
            <a:ext cx="3474720" cy="1234440"/>
          </a:xfrm>
          <a:prstGeom prst="rect">
            <a:avLst/>
          </a:prstGeom>
          <a:noFill/>
          <a:ln/>
        </p:spPr>
        <p:txBody>
          <a:bodyPr wrap="square" lIns="0" tIns="0" rIns="0" bIns="0" rtlCol="0" anchor="ctr"/>
          <a:lstStyle/>
          <a:p>
            <a:pPr indent="0" marL="0">
              <a:buNone/>
            </a:pPr>
            <a:r>
              <a:rPr lang="en-US" sz="1600" b="1" dirty="0">
                <a:solidFill>
                  <a:schemeClr val="bg1"/>
                </a:solidFill>
              </a:rPr>
              <a:t>Kano, the next day</a:t>
            </a:r>
            <a:endParaRPr lang="en-US" sz="1600" dirty="0"/>
          </a:p>
          <a:p>
            <a:pPr indent="0" marL="0">
              <a:buNone/>
            </a:pPr>
            <a:r>
              <a:rPr lang="en-US" sz="1600" dirty="0">
                <a:solidFill>
                  <a:schemeClr val="bg1"/>
                </a:solidFill>
              </a:rPr>
              <a:t>Same account sent in, warned at once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The model connects evidence. It can’t invent it.</a:t>
            </a:r>
            <a:endParaRPr lang="en-US" sz="3400" dirty="0"/>
          </a:p>
        </p:txBody>
      </p:sp>
      <p:sp>
        <p:nvSpPr>
          <p:cNvPr id="3" name="card-193"/>
          <p:cNvSpPr/>
          <p:nvPr/>
        </p:nvSpPr>
        <p:spPr>
          <a:xfrm>
            <a:off x="548640" y="1417320"/>
            <a:ext cx="3520440" cy="3794760"/>
          </a:xfrm>
          <a:prstGeom prst="roundRect">
            <a:avLst>
              <a:gd name="adj" fmla="val 3117"/>
            </a:avLst>
          </a:prstGeom>
          <a:solidFill>
            <a:schemeClr val="bg2"/>
          </a:solidFill>
          <a:ln w="12700">
            <a:solidFill>
              <a:schemeClr val="bg2"/>
            </a:solidFill>
            <a:prstDash val="solid"/>
          </a:ln>
        </p:spPr>
      </p:sp>
      <p:sp>
        <p:nvSpPr>
          <p:cNvPr id="4" name="icon-circle-194"/>
          <p:cNvSpPr/>
          <p:nvPr/>
        </p:nvSpPr>
        <p:spPr>
          <a:xfrm>
            <a:off x="822960" y="1691640"/>
            <a:ext cx="777240" cy="777240"/>
          </a:xfrm>
          <a:prstGeom prst="ellipse">
            <a:avLst/>
          </a:prstGeom>
          <a:solidFill>
            <a:srgbClr val="0B8A4B"/>
          </a:solidFill>
          <a:ln w="12700">
            <a:solidFill>
              <a:srgbClr val="0B8A4B"/>
            </a:solidFill>
            <a:prstDash val="solid"/>
          </a:ln>
        </p:spPr>
      </p:sp>
      <p:pic>
        <p:nvPicPr>
          <p:cNvPr id="5" name="icon-FaMicrochip-195"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196"/>
          <p:cNvSpPr txBox="1"/>
          <p:nvPr/>
        </p:nvSpPr>
        <p:spPr>
          <a:xfrm>
            <a:off x="822960" y="2651760"/>
            <a:ext cx="2971800" cy="457200"/>
          </a:xfrm>
          <a:prstGeom prst="rect">
            <a:avLst/>
          </a:prstGeom>
          <a:noFill/>
          <a:ln/>
        </p:spPr>
        <p:txBody>
          <a:bodyPr wrap="square" lIns="0" tIns="0" rIns="0" bIns="0" rtlCol="0" anchor="t"/>
          <a:lstStyle/>
          <a:p>
            <a:pPr indent="0" marL="0">
              <a:buNone/>
            </a:pPr>
            <a:r>
              <a:rPr lang="en-US" sz="2000" b="1" dirty="0">
                <a:solidFill>
                  <a:schemeClr val="tx1"/>
                </a:solidFill>
              </a:rPr>
              <a:t>NVIDIA Nemotron</a:t>
            </a:r>
            <a:endParaRPr lang="en-US" sz="2000" dirty="0"/>
          </a:p>
        </p:txBody>
      </p:sp>
      <p:sp>
        <p:nvSpPr>
          <p:cNvPr id="7" name="text-197"/>
          <p:cNvSpPr txBox="1"/>
          <p:nvPr/>
        </p:nvSpPr>
        <p:spPr>
          <a:xfrm>
            <a:off x="822960" y="3154680"/>
            <a:ext cx="2971800" cy="1005840"/>
          </a:xfrm>
          <a:prstGeom prst="rect">
            <a:avLst/>
          </a:prstGeom>
          <a:noFill/>
          <a:ln/>
        </p:spPr>
        <p:txBody>
          <a:bodyPr wrap="square" lIns="0" tIns="0" rIns="0" bIns="0" rtlCol="0" anchor="t"/>
          <a:lstStyle/>
          <a:p>
            <a:pPr indent="0" marL="0">
              <a:buNone/>
            </a:pPr>
            <a:r>
              <a:rPr lang="en-US" sz="1600" dirty="0">
                <a:solidFill>
                  <a:schemeClr val="tx1"/>
                </a:solidFill>
              </a:rPr>
              <a:t>Connects the findings into one verdict and writes it in English or Pidgin.</a:t>
            </a:r>
            <a:endParaRPr lang="en-US" sz="1600" dirty="0"/>
          </a:p>
        </p:txBody>
      </p:sp>
      <p:sp>
        <p:nvSpPr>
          <p:cNvPr id="8" name="text-198"/>
          <p:cNvSpPr txBox="1"/>
          <p:nvPr/>
        </p:nvSpPr>
        <p:spPr>
          <a:xfrm>
            <a:off x="822960" y="416052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Reasons without valid evidence ids are dropped. The evaluator sends weak drafts back.</a:t>
            </a:r>
            <a:endParaRPr lang="en-US" sz="1400" dirty="0"/>
          </a:p>
        </p:txBody>
      </p:sp>
      <p:sp>
        <p:nvSpPr>
          <p:cNvPr id="9" name="card-199"/>
          <p:cNvSpPr/>
          <p:nvPr/>
        </p:nvSpPr>
        <p:spPr>
          <a:xfrm>
            <a:off x="4334256" y="1417320"/>
            <a:ext cx="3520440" cy="3794760"/>
          </a:xfrm>
          <a:prstGeom prst="roundRect">
            <a:avLst>
              <a:gd name="adj" fmla="val 3117"/>
            </a:avLst>
          </a:prstGeom>
          <a:solidFill>
            <a:schemeClr val="bg2"/>
          </a:solidFill>
          <a:ln w="12700">
            <a:solidFill>
              <a:schemeClr val="bg2"/>
            </a:solidFill>
            <a:prstDash val="solid"/>
          </a:ln>
        </p:spPr>
      </p:sp>
      <p:sp>
        <p:nvSpPr>
          <p:cNvPr id="10" name="icon-circle-200"/>
          <p:cNvSpPr/>
          <p:nvPr/>
        </p:nvSpPr>
        <p:spPr>
          <a:xfrm>
            <a:off x="4608576" y="1691640"/>
            <a:ext cx="777240" cy="777240"/>
          </a:xfrm>
          <a:prstGeom prst="ellipse">
            <a:avLst/>
          </a:prstGeom>
          <a:solidFill>
            <a:srgbClr val="0B8A4B"/>
          </a:solidFill>
          <a:ln w="12700">
            <a:solidFill>
              <a:srgbClr val="0B8A4B"/>
            </a:solidFill>
            <a:prstDash val="solid"/>
          </a:ln>
        </p:spPr>
      </p:sp>
      <p:pic>
        <p:nvPicPr>
          <p:cNvPr id="11" name="icon-FaDatabase-201" descr="preencoded.png">    </p:cNvPr>
          <p:cNvPicPr>
            <a:picLocks noChangeAspect="1"/>
          </p:cNvPicPr>
          <p:nvPr/>
        </p:nvPicPr>
        <p:blipFill>
          <a:blip r:embed="rId2"/>
          <a:stretch>
            <a:fillRect/>
          </a:stretch>
        </p:blipFill>
        <p:spPr>
          <a:xfrm>
            <a:off x="4802886" y="1885950"/>
            <a:ext cx="388620" cy="388620"/>
          </a:xfrm>
          <a:prstGeom prst="rect">
            <a:avLst/>
          </a:prstGeom>
        </p:spPr>
      </p:pic>
      <p:sp>
        <p:nvSpPr>
          <p:cNvPr id="12" name="text-202"/>
          <p:cNvSpPr txBox="1"/>
          <p:nvPr/>
        </p:nvSpPr>
        <p:spPr>
          <a:xfrm>
            <a:off x="4608576" y="2651760"/>
            <a:ext cx="2971800" cy="457200"/>
          </a:xfrm>
          <a:prstGeom prst="rect">
            <a:avLst/>
          </a:prstGeom>
          <a:noFill/>
          <a:ln/>
        </p:spPr>
        <p:txBody>
          <a:bodyPr wrap="square" lIns="0" tIns="0" rIns="0" bIns="0" rtlCol="0" anchor="t"/>
          <a:lstStyle/>
          <a:p>
            <a:pPr indent="0" marL="0">
              <a:buNone/>
            </a:pPr>
            <a:r>
              <a:rPr lang="en-US" sz="2000" b="1" dirty="0">
                <a:solidFill>
                  <a:schemeClr val="tx1"/>
                </a:solidFill>
              </a:rPr>
              <a:t>Zetaris</a:t>
            </a:r>
            <a:endParaRPr lang="en-US" sz="2000" dirty="0"/>
          </a:p>
        </p:txBody>
      </p:sp>
      <p:sp>
        <p:nvSpPr>
          <p:cNvPr id="13" name="text-203"/>
          <p:cNvSpPr txBox="1"/>
          <p:nvPr/>
        </p:nvSpPr>
        <p:spPr>
          <a:xfrm>
            <a:off x="4608576" y="3154680"/>
            <a:ext cx="2971800" cy="1005840"/>
          </a:xfrm>
          <a:prstGeom prst="rect">
            <a:avLst/>
          </a:prstGeom>
          <a:noFill/>
          <a:ln/>
        </p:spPr>
        <p:txBody>
          <a:bodyPr wrap="square" lIns="0" tIns="0" rIns="0" bIns="0" rtlCol="0" anchor="t"/>
          <a:lstStyle/>
          <a:p>
            <a:pPr indent="0" marL="0">
              <a:buNone/>
            </a:pPr>
            <a:r>
              <a:rPr lang="en-US" sz="1600" dirty="0">
                <a:solidFill>
                  <a:schemeClr val="tx1"/>
                </a:solidFill>
              </a:rPr>
              <a:t>Holds the facts that ground every “this isn’t the real company” reason.</a:t>
            </a:r>
            <a:endParaRPr lang="en-US" sz="1600" dirty="0"/>
          </a:p>
        </p:txBody>
      </p:sp>
      <p:sp>
        <p:nvSpPr>
          <p:cNvPr id="14" name="text-204"/>
          <p:cNvSpPr txBox="1"/>
          <p:nvPr/>
        </p:nvSpPr>
        <p:spPr>
          <a:xfrm>
            <a:off x="4608576" y="416052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Official accounts, SEC warnings and regulator rules, queried with SQL.</a:t>
            </a:r>
            <a:endParaRPr lang="en-US" sz="1400" dirty="0"/>
          </a:p>
        </p:txBody>
      </p:sp>
      <p:sp>
        <p:nvSpPr>
          <p:cNvPr id="15" name="card-205"/>
          <p:cNvSpPr/>
          <p:nvPr/>
        </p:nvSpPr>
        <p:spPr>
          <a:xfrm>
            <a:off x="8119872" y="1417320"/>
            <a:ext cx="3520440" cy="3794760"/>
          </a:xfrm>
          <a:prstGeom prst="roundRect">
            <a:avLst>
              <a:gd name="adj" fmla="val 3117"/>
            </a:avLst>
          </a:prstGeom>
          <a:solidFill>
            <a:schemeClr val="bg2"/>
          </a:solidFill>
          <a:ln w="12700">
            <a:solidFill>
              <a:schemeClr val="bg2"/>
            </a:solidFill>
            <a:prstDash val="solid"/>
          </a:ln>
        </p:spPr>
      </p:sp>
      <p:sp>
        <p:nvSpPr>
          <p:cNvPr id="16" name="icon-circle-206"/>
          <p:cNvSpPr/>
          <p:nvPr/>
        </p:nvSpPr>
        <p:spPr>
          <a:xfrm>
            <a:off x="8394192" y="1691640"/>
            <a:ext cx="777240" cy="777240"/>
          </a:xfrm>
          <a:prstGeom prst="ellipse">
            <a:avLst/>
          </a:prstGeom>
          <a:solidFill>
            <a:srgbClr val="0B8A4B"/>
          </a:solidFill>
          <a:ln w="12700">
            <a:solidFill>
              <a:srgbClr val="0B8A4B"/>
            </a:solidFill>
            <a:prstDash val="solid"/>
          </a:ln>
        </p:spPr>
      </p:sp>
      <p:pic>
        <p:nvPicPr>
          <p:cNvPr id="17" name="icon-FaBrain-207" descr="preencoded.png">    </p:cNvPr>
          <p:cNvPicPr>
            <a:picLocks noChangeAspect="1"/>
          </p:cNvPicPr>
          <p:nvPr/>
        </p:nvPicPr>
        <p:blipFill>
          <a:blip r:embed="rId3"/>
          <a:stretch>
            <a:fillRect/>
          </a:stretch>
        </p:blipFill>
        <p:spPr>
          <a:xfrm>
            <a:off x="8588502" y="1885950"/>
            <a:ext cx="388620" cy="388620"/>
          </a:xfrm>
          <a:prstGeom prst="rect">
            <a:avLst/>
          </a:prstGeom>
        </p:spPr>
      </p:pic>
      <p:sp>
        <p:nvSpPr>
          <p:cNvPr id="18" name="text-208"/>
          <p:cNvSpPr txBox="1"/>
          <p:nvPr/>
        </p:nvSpPr>
        <p:spPr>
          <a:xfrm>
            <a:off x="8394192" y="2651760"/>
            <a:ext cx="2971800" cy="457200"/>
          </a:xfrm>
          <a:prstGeom prst="rect">
            <a:avLst/>
          </a:prstGeom>
          <a:noFill/>
          <a:ln/>
        </p:spPr>
        <p:txBody>
          <a:bodyPr wrap="square" lIns="0" tIns="0" rIns="0" bIns="0" rtlCol="0" anchor="t"/>
          <a:lstStyle/>
          <a:p>
            <a:pPr indent="0" marL="0">
              <a:buNone/>
            </a:pPr>
            <a:r>
              <a:rPr lang="en-US" sz="2000" b="1" dirty="0">
                <a:solidFill>
                  <a:schemeClr val="tx1"/>
                </a:solidFill>
              </a:rPr>
              <a:t>Meterless H-MEM</a:t>
            </a:r>
            <a:endParaRPr lang="en-US" sz="2000" dirty="0"/>
          </a:p>
        </p:txBody>
      </p:sp>
      <p:sp>
        <p:nvSpPr>
          <p:cNvPr id="19" name="text-209"/>
          <p:cNvSpPr txBox="1"/>
          <p:nvPr/>
        </p:nvSpPr>
        <p:spPr>
          <a:xfrm>
            <a:off x="8394192" y="3154680"/>
            <a:ext cx="2971800" cy="1005840"/>
          </a:xfrm>
          <a:prstGeom prst="rect">
            <a:avLst/>
          </a:prstGeom>
          <a:noFill/>
          <a:ln/>
        </p:spPr>
        <p:txBody>
          <a:bodyPr wrap="square" lIns="0" tIns="0" rIns="0" bIns="0" rtlCol="0" anchor="t"/>
          <a:lstStyle/>
          <a:p>
            <a:pPr indent="0" marL="0">
              <a:buNone/>
            </a:pPr>
            <a:r>
              <a:rPr lang="en-US" sz="1600" dirty="0">
                <a:solidFill>
                  <a:schemeClr val="tx1"/>
                </a:solidFill>
              </a:rPr>
              <a:t>Turns single checks into shared community memory.</a:t>
            </a:r>
            <a:endParaRPr lang="en-US" sz="1600" dirty="0"/>
          </a:p>
        </p:txBody>
      </p:sp>
      <p:sp>
        <p:nvSpPr>
          <p:cNvPr id="20" name="text-210"/>
          <p:cNvSpPr txBox="1"/>
          <p:nvPr/>
        </p:nvSpPr>
        <p:spPr>
          <a:xfrm>
            <a:off x="8394192" y="416052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Without storing anyone’s messages: only reused accounts, phones, sites and handles.</a:t>
            </a:r>
            <a:endParaRPr lang="en-US" sz="1400" dirty="0"/>
          </a:p>
        </p:txBody>
      </p:sp>
      <p:sp>
        <p:nvSpPr>
          <p:cNvPr id="21" name="card-211"/>
          <p:cNvSpPr/>
          <p:nvPr/>
        </p:nvSpPr>
        <p:spPr>
          <a:xfrm>
            <a:off x="548640" y="5486400"/>
            <a:ext cx="11091672" cy="777240"/>
          </a:xfrm>
          <a:prstGeom prst="roundRect">
            <a:avLst>
              <a:gd name="adj" fmla="val 14118"/>
            </a:avLst>
          </a:prstGeom>
          <a:solidFill>
            <a:schemeClr val="tx2"/>
          </a:solidFill>
          <a:ln w="12700">
            <a:solidFill>
              <a:schemeClr val="tx2"/>
            </a:solidFill>
            <a:prstDash val="solid"/>
          </a:ln>
        </p:spPr>
      </p:sp>
      <p:sp>
        <p:nvSpPr>
          <p:cNvPr id="22" name="verdict-dot-212"/>
          <p:cNvSpPr/>
          <p:nvPr/>
        </p:nvSpPr>
        <p:spPr>
          <a:xfrm>
            <a:off x="822960" y="5687568"/>
            <a:ext cx="365760" cy="365760"/>
          </a:xfrm>
          <a:prstGeom prst="ellipse">
            <a:avLst/>
          </a:prstGeom>
          <a:solidFill>
            <a:schemeClr val="accent2"/>
          </a:solidFill>
          <a:ln w="12700">
            <a:solidFill>
              <a:schemeClr val="accent2"/>
            </a:solidFill>
            <a:prstDash val="solid"/>
          </a:ln>
        </p:spPr>
      </p:sp>
      <p:sp>
        <p:nvSpPr>
          <p:cNvPr id="23" name="text-213"/>
          <p:cNvSpPr txBox="1"/>
          <p:nvPr/>
        </p:nvSpPr>
        <p:spPr>
          <a:xfrm>
            <a:off x="1371600" y="5486400"/>
            <a:ext cx="10058400" cy="777240"/>
          </a:xfrm>
          <a:prstGeom prst="rect">
            <a:avLst/>
          </a:prstGeom>
          <a:noFill/>
          <a:ln/>
        </p:spPr>
        <p:txBody>
          <a:bodyPr wrap="square" lIns="0" tIns="0" rIns="0" bIns="0" rtlCol="0" anchor="ctr"/>
          <a:lstStyle/>
          <a:p>
            <a:pPr indent="0" marL="0">
              <a:buNone/>
            </a:pPr>
            <a:r>
              <a:rPr lang="en-US" sz="1600" b="1" dirty="0">
                <a:solidFill>
                  <a:schemeClr val="bg1"/>
                </a:solidFill>
              </a:rPr>
              <a:t>Safety floor: </a:t>
            </a:r>
            <a:pPr indent="0" marL="0">
              <a:buNone/>
            </a:pPr>
            <a:r>
              <a:rPr lang="en-US" sz="1600" dirty="0">
                <a:solidFill>
                  <a:schemeClr val="bg1"/>
                </a:solidFill>
              </a:rPr>
              <a:t>a blocklisted link or an SEC-named operator can never come out “safe”, whatever the model says.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Technical stack and privacy</a:t>
            </a:r>
            <a:endParaRPr lang="en-US" sz="3400" dirty="0"/>
          </a:p>
        </p:txBody>
      </p:sp>
      <p:graphicFrame>
        <p:nvGraphicFramePr>
          <p:cNvPr id="10" name="stack-table-214"/>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1600200"/>
                <a:gridCol w="5166360"/>
              </a:tblGrid>
              <a:tr h="621792">
                <a:tc>
                  <a:txBody>
                    <a:bodyPr/>
                    <a:lstStyle/>
                    <a:p>
                      <a:pPr indent="0" marL="0">
                        <a:buNone/>
                      </a:pPr>
                      <a:r>
                        <a:rPr lang="en-US" sz="1400" b="1" dirty="0">
                          <a:solidFill>
                            <a:schemeClr val="tx1"/>
                          </a:solidFill>
                        </a:rPr>
                        <a:t>Channels</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Telegram, WhatsApp (Cloud API webhook), Discord</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Model</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NVIDIA Nemotron 3 Ultra (550B) via NVIDIA API; Nemotron 3.5 Lightning (30B) lane in Nightshift</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AI provider</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Meterless Nightshift, then NVIDIA API, Gemini, offline rules</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Data layer</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Zetaris: Lightning REST tables, views, SQL over REST</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Memory</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Meterless Engine H-MEM, stored in SQLite</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Web evidence</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Phishing Army, OpenPhish, RDAP, sec.gov.ng, Tavily</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r h="621792">
                <a:tc>
                  <a:txBody>
                    <a:bodyPr/>
                    <a:lstStyle/>
                    <a:p>
                      <a:pPr indent="0" marL="0">
                        <a:buNone/>
                      </a:pPr>
                      <a:r>
                        <a:rPr lang="en-US" sz="1400" b="1" dirty="0">
                          <a:solidFill>
                            <a:schemeClr val="tx1"/>
                          </a:solidFill>
                        </a:rPr>
                        <a:t>Code</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Python, httpx, aiohttp, python-telegram-bot, discord.py. MIT licence.</a:t>
                      </a:r>
                      <a:endParaRPr lang="en-US" sz="1400" dirty="0"/>
                    </a:p>
                  </a:txBody>
                  <a:tcPr marL="109728" marR="109728" marT="45720" marB="45720" anchor="ctr">
                    <a:lnL w="12700" cap="flat" cmpd="sng" algn="ctr">
                      <a:solidFill>
                        <a:srgbClr val="C9D9CF"/>
                      </a:solidFill>
                      <a:prstDash val="solid"/>
                      <a:round/>
                      <a:headEnd type="none" w="med" len="med"/>
                      <a:tailEnd type="none" w="med" len="med"/>
                    </a:lnL>
                    <a:lnR w="12700" cap="flat" cmpd="sng" algn="ctr">
                      <a:solidFill>
                        <a:srgbClr val="C9D9CF"/>
                      </a:solidFill>
                      <a:prstDash val="solid"/>
                      <a:round/>
                      <a:headEnd type="none" w="med" len="med"/>
                      <a:tailEnd type="none" w="med" len="med"/>
                    </a:lnR>
                    <a:lnT w="12700" cap="flat" cmpd="sng" algn="ctr">
                      <a:solidFill>
                        <a:srgbClr val="C9D9CF"/>
                      </a:solidFill>
                      <a:prstDash val="solid"/>
                      <a:round/>
                      <a:headEnd type="none" w="med" len="med"/>
                      <a:tailEnd type="none" w="med" len="med"/>
                    </a:lnT>
                    <a:lnB w="12700" cap="flat" cmpd="sng" algn="ctr">
                      <a:solidFill>
                        <a:srgbClr val="C9D9CF"/>
                      </a:solidFill>
                      <a:prstDash val="solid"/>
                      <a:round/>
                      <a:headEnd type="none" w="med" len="med"/>
                      <a:tailEnd type="none" w="med" len="med"/>
                    </a:lnB>
                  </a:tcPr>
                </a:tc>
              </a:tr>
            </a:tbl>
          </a:graphicData>
        </a:graphic>
      </p:graphicFrame>
      <p:sp>
        <p:nvSpPr>
          <p:cNvPr id="4" name="card-215"/>
          <p:cNvSpPr/>
          <p:nvPr/>
        </p:nvSpPr>
        <p:spPr>
          <a:xfrm>
            <a:off x="7680960" y="1417320"/>
            <a:ext cx="3959352" cy="4352544"/>
          </a:xfrm>
          <a:prstGeom prst="roundRect">
            <a:avLst>
              <a:gd name="adj" fmla="val 2771"/>
            </a:avLst>
          </a:prstGeom>
          <a:solidFill>
            <a:schemeClr val="tx2"/>
          </a:solidFill>
          <a:ln w="12700">
            <a:solidFill>
              <a:schemeClr val="tx2"/>
            </a:solidFill>
            <a:prstDash val="solid"/>
          </a:ln>
        </p:spPr>
      </p:sp>
      <p:sp>
        <p:nvSpPr>
          <p:cNvPr id="5" name="text-216"/>
          <p:cNvSpPr txBox="1"/>
          <p:nvPr/>
        </p:nvSpPr>
        <p:spPr>
          <a:xfrm>
            <a:off x="7955280" y="1600200"/>
            <a:ext cx="3410712" cy="457200"/>
          </a:xfrm>
          <a:prstGeom prst="rect">
            <a:avLst/>
          </a:prstGeom>
          <a:noFill/>
          <a:ln/>
        </p:spPr>
        <p:txBody>
          <a:bodyPr wrap="square" lIns="0" tIns="0" rIns="0" bIns="0" rtlCol="0" anchor="t"/>
          <a:lstStyle/>
          <a:p>
            <a:pPr indent="0" marL="0">
              <a:buNone/>
            </a:pPr>
            <a:r>
              <a:rPr lang="en-US" sz="2000" b="1" dirty="0">
                <a:solidFill>
                  <a:schemeClr val="bg1"/>
                </a:solidFill>
              </a:rPr>
              <a:t>Privacy</a:t>
            </a:r>
            <a:endParaRPr lang="en-US" sz="2000" dirty="0"/>
          </a:p>
        </p:txBody>
      </p:sp>
      <p:pic>
        <p:nvPicPr>
          <p:cNvPr id="6" name="icon-FaBan-217" descr="preencoded.png">    </p:cNvPr>
          <p:cNvPicPr>
            <a:picLocks noChangeAspect="1"/>
          </p:cNvPicPr>
          <p:nvPr/>
        </p:nvPicPr>
        <p:blipFill>
          <a:blip r:embed="rId1"/>
          <a:stretch>
            <a:fillRect/>
          </a:stretch>
        </p:blipFill>
        <p:spPr>
          <a:xfrm>
            <a:off x="7955280" y="2350008"/>
            <a:ext cx="310896" cy="310896"/>
          </a:xfrm>
          <a:prstGeom prst="rect">
            <a:avLst/>
          </a:prstGeom>
        </p:spPr>
      </p:pic>
      <p:sp>
        <p:nvSpPr>
          <p:cNvPr id="7" name="text-218"/>
          <p:cNvSpPr txBox="1"/>
          <p:nvPr/>
        </p:nvSpPr>
        <p:spPr>
          <a:xfrm>
            <a:off x="8458200" y="2240280"/>
            <a:ext cx="2953512" cy="548640"/>
          </a:xfrm>
          <a:prstGeom prst="rect">
            <a:avLst/>
          </a:prstGeom>
          <a:noFill/>
          <a:ln/>
        </p:spPr>
        <p:txBody>
          <a:bodyPr wrap="square" lIns="0" tIns="0" rIns="0" bIns="0" rtlCol="0" anchor="ctr"/>
          <a:lstStyle/>
          <a:p>
            <a:pPr indent="0" marL="0">
              <a:buNone/>
            </a:pPr>
            <a:r>
              <a:rPr lang="en-US" sz="1500" dirty="0">
                <a:solidFill>
                  <a:schemeClr val="bg1"/>
                </a:solidFill>
              </a:rPr>
              <a:t>Message text is never stored</a:t>
            </a:r>
            <a:endParaRPr lang="en-US" sz="1500" dirty="0"/>
          </a:p>
        </p:txBody>
      </p:sp>
      <p:pic>
        <p:nvPicPr>
          <p:cNvPr id="8" name="icon-FaHashtag-219" descr="preencoded.png">    </p:cNvPr>
          <p:cNvPicPr>
            <a:picLocks noChangeAspect="1"/>
          </p:cNvPicPr>
          <p:nvPr/>
        </p:nvPicPr>
        <p:blipFill>
          <a:blip r:embed="rId2"/>
          <a:stretch>
            <a:fillRect/>
          </a:stretch>
        </p:blipFill>
        <p:spPr>
          <a:xfrm>
            <a:off x="7955280" y="3026664"/>
            <a:ext cx="310896" cy="310896"/>
          </a:xfrm>
          <a:prstGeom prst="rect">
            <a:avLst/>
          </a:prstGeom>
        </p:spPr>
      </p:pic>
      <p:sp>
        <p:nvSpPr>
          <p:cNvPr id="9" name="text-220"/>
          <p:cNvSpPr txBox="1"/>
          <p:nvPr/>
        </p:nvSpPr>
        <p:spPr>
          <a:xfrm>
            <a:off x="8458200" y="2916936"/>
            <a:ext cx="2953512" cy="548640"/>
          </a:xfrm>
          <a:prstGeom prst="rect">
            <a:avLst/>
          </a:prstGeom>
          <a:noFill/>
          <a:ln/>
        </p:spPr>
        <p:txBody>
          <a:bodyPr wrap="square" lIns="0" tIns="0" rIns="0" bIns="0" rtlCol="0" anchor="ctr"/>
          <a:lstStyle/>
          <a:p>
            <a:pPr indent="0" marL="0">
              <a:buNone/>
            </a:pPr>
            <a:r>
              <a:rPr lang="en-US" sz="1500" dirty="0">
                <a:solidFill>
                  <a:schemeClr val="bg1"/>
                </a:solidFill>
              </a:rPr>
              <a:t>Users stored as salted hashes</a:t>
            </a:r>
            <a:endParaRPr lang="en-US" sz="1500" dirty="0"/>
          </a:p>
        </p:txBody>
      </p:sp>
      <p:pic>
        <p:nvPicPr>
          <p:cNvPr id="10" name="icon-FaKey-221" descr="preencoded.png">    </p:cNvPr>
          <p:cNvPicPr>
            <a:picLocks noChangeAspect="1"/>
          </p:cNvPicPr>
          <p:nvPr/>
        </p:nvPicPr>
        <p:blipFill>
          <a:blip r:embed="rId3"/>
          <a:stretch>
            <a:fillRect/>
          </a:stretch>
        </p:blipFill>
        <p:spPr>
          <a:xfrm>
            <a:off x="7955280" y="3703320"/>
            <a:ext cx="310896" cy="310896"/>
          </a:xfrm>
          <a:prstGeom prst="rect">
            <a:avLst/>
          </a:prstGeom>
        </p:spPr>
      </p:pic>
      <p:sp>
        <p:nvSpPr>
          <p:cNvPr id="11" name="text-222"/>
          <p:cNvSpPr txBox="1"/>
          <p:nvPr/>
        </p:nvSpPr>
        <p:spPr>
          <a:xfrm>
            <a:off x="8458200" y="3593592"/>
            <a:ext cx="2953512" cy="548640"/>
          </a:xfrm>
          <a:prstGeom prst="rect">
            <a:avLst/>
          </a:prstGeom>
          <a:noFill/>
          <a:ln/>
        </p:spPr>
        <p:txBody>
          <a:bodyPr wrap="square" lIns="0" tIns="0" rIns="0" bIns="0" rtlCol="0" anchor="ctr"/>
          <a:lstStyle/>
          <a:p>
            <a:pPr indent="0" marL="0">
              <a:buNone/>
            </a:pPr>
            <a:r>
              <a:rPr lang="en-US" sz="1500" dirty="0">
                <a:solidFill>
                  <a:schemeClr val="bg1"/>
                </a:solidFill>
              </a:rPr>
              <a:t>Never asks for PINs or OTPs</a:t>
            </a:r>
            <a:endParaRPr lang="en-US" sz="1500" dirty="0"/>
          </a:p>
        </p:txBody>
      </p:sp>
      <p:pic>
        <p:nvPicPr>
          <p:cNvPr id="12" name="icon-FaNetworkWired-223" descr="preencoded.png">    </p:cNvPr>
          <p:cNvPicPr>
            <a:picLocks noChangeAspect="1"/>
          </p:cNvPicPr>
          <p:nvPr/>
        </p:nvPicPr>
        <p:blipFill>
          <a:blip r:embed="rId4"/>
          <a:stretch>
            <a:fillRect/>
          </a:stretch>
        </p:blipFill>
        <p:spPr>
          <a:xfrm>
            <a:off x="7955280" y="4379976"/>
            <a:ext cx="310896" cy="310896"/>
          </a:xfrm>
          <a:prstGeom prst="rect">
            <a:avLst/>
          </a:prstGeom>
        </p:spPr>
      </p:pic>
      <p:sp>
        <p:nvSpPr>
          <p:cNvPr id="13" name="text-224"/>
          <p:cNvSpPr txBox="1"/>
          <p:nvPr/>
        </p:nvSpPr>
        <p:spPr>
          <a:xfrm>
            <a:off x="8458200" y="4270248"/>
            <a:ext cx="2953512" cy="548640"/>
          </a:xfrm>
          <a:prstGeom prst="rect">
            <a:avLst/>
          </a:prstGeom>
          <a:noFill/>
          <a:ln/>
        </p:spPr>
        <p:txBody>
          <a:bodyPr wrap="square" lIns="0" tIns="0" rIns="0" bIns="0" rtlCol="0" anchor="ctr"/>
          <a:lstStyle/>
          <a:p>
            <a:pPr indent="0" marL="0">
              <a:buNone/>
            </a:pPr>
            <a:r>
              <a:rPr lang="en-US" sz="1500" dirty="0">
                <a:solidFill>
                  <a:schemeClr val="bg1"/>
                </a:solidFill>
              </a:rPr>
              <a:t>Never fetches links into private networks</a:t>
            </a:r>
            <a:endParaRPr lang="en-US" sz="1500" dirty="0"/>
          </a:p>
        </p:txBody>
      </p:sp>
      <p:pic>
        <p:nvPicPr>
          <p:cNvPr id="14" name="icon-FaGaugeHigh-225" descr="preencoded.png">    </p:cNvPr>
          <p:cNvPicPr>
            <a:picLocks noChangeAspect="1"/>
          </p:cNvPicPr>
          <p:nvPr/>
        </p:nvPicPr>
        <p:blipFill>
          <a:blip r:embed="rId5"/>
          <a:stretch>
            <a:fillRect/>
          </a:stretch>
        </p:blipFill>
        <p:spPr>
          <a:xfrm>
            <a:off x="7955280" y="5056632"/>
            <a:ext cx="310896" cy="310896"/>
          </a:xfrm>
          <a:prstGeom prst="rect">
            <a:avLst/>
          </a:prstGeom>
        </p:spPr>
      </p:pic>
      <p:sp>
        <p:nvSpPr>
          <p:cNvPr id="15" name="text-226"/>
          <p:cNvSpPr txBox="1"/>
          <p:nvPr/>
        </p:nvSpPr>
        <p:spPr>
          <a:xfrm>
            <a:off x="8458200" y="4946904"/>
            <a:ext cx="2953512" cy="548640"/>
          </a:xfrm>
          <a:prstGeom prst="rect">
            <a:avLst/>
          </a:prstGeom>
          <a:noFill/>
          <a:ln/>
        </p:spPr>
        <p:txBody>
          <a:bodyPr wrap="square" lIns="0" tIns="0" rIns="0" bIns="0" rtlCol="0" anchor="ctr"/>
          <a:lstStyle/>
          <a:p>
            <a:pPr indent="0" marL="0">
              <a:buNone/>
            </a:pPr>
            <a:r>
              <a:rPr lang="en-US" sz="1500" dirty="0">
                <a:solidFill>
                  <a:schemeClr val="bg1"/>
                </a:solidFill>
              </a:rPr>
              <a:t>Fair-use limit per person and a daily cap</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What it said in live tests</a:t>
            </a:r>
            <a:endParaRPr lang="en-US" sz="3400" dirty="0"/>
          </a:p>
        </p:txBody>
      </p:sp>
      <p:sp>
        <p:nvSpPr>
          <p:cNvPr id="3" name="card-227"/>
          <p:cNvSpPr/>
          <p:nvPr/>
        </p:nvSpPr>
        <p:spPr>
          <a:xfrm>
            <a:off x="548640" y="1371600"/>
            <a:ext cx="11091672" cy="658368"/>
          </a:xfrm>
          <a:prstGeom prst="roundRect">
            <a:avLst>
              <a:gd name="adj" fmla="val 11111"/>
            </a:avLst>
          </a:prstGeom>
          <a:solidFill>
            <a:schemeClr val="bg2"/>
          </a:solidFill>
          <a:ln w="12700">
            <a:solidFill>
              <a:schemeClr val="bg2"/>
            </a:solidFill>
            <a:prstDash val="solid"/>
          </a:ln>
        </p:spPr>
      </p:sp>
      <p:sp>
        <p:nvSpPr>
          <p:cNvPr id="4" name="text-228"/>
          <p:cNvSpPr txBox="1"/>
          <p:nvPr/>
        </p:nvSpPr>
        <p:spPr>
          <a:xfrm>
            <a:off x="822960" y="1371600"/>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OPay loan fee message</a:t>
            </a:r>
            <a:endParaRPr lang="en-US" sz="1800" dirty="0"/>
          </a:p>
        </p:txBody>
      </p:sp>
      <p:sp>
        <p:nvSpPr>
          <p:cNvPr id="5" name="verdict-dot-229"/>
          <p:cNvSpPr/>
          <p:nvPr/>
        </p:nvSpPr>
        <p:spPr>
          <a:xfrm>
            <a:off x="5120640" y="1545336"/>
            <a:ext cx="310896" cy="310896"/>
          </a:xfrm>
          <a:prstGeom prst="ellipse">
            <a:avLst/>
          </a:prstGeom>
          <a:solidFill>
            <a:schemeClr val="accent2"/>
          </a:solidFill>
          <a:ln w="12700">
            <a:solidFill>
              <a:schemeClr val="accent2"/>
            </a:solidFill>
            <a:prstDash val="solid"/>
          </a:ln>
        </p:spPr>
      </p:sp>
      <p:sp>
        <p:nvSpPr>
          <p:cNvPr id="6" name="text-230"/>
          <p:cNvSpPr txBox="1"/>
          <p:nvPr/>
        </p:nvSpPr>
        <p:spPr>
          <a:xfrm>
            <a:off x="5577840" y="1371600"/>
            <a:ext cx="2011680" cy="658368"/>
          </a:xfrm>
          <a:prstGeom prst="rect">
            <a:avLst/>
          </a:prstGeom>
          <a:noFill/>
          <a:ln/>
        </p:spPr>
        <p:txBody>
          <a:bodyPr wrap="square" lIns="0" tIns="0" rIns="0" bIns="0" rtlCol="0" anchor="ctr"/>
          <a:lstStyle/>
          <a:p>
            <a:pPr indent="0" marL="0">
              <a:buNone/>
            </a:pPr>
            <a:r>
              <a:rPr lang="en-US" sz="1800" dirty="0">
                <a:solidFill>
                  <a:schemeClr val="tx1"/>
                </a:solidFill>
              </a:rPr>
              <a:t>Scam</a:t>
            </a:r>
            <a:endParaRPr lang="en-US" sz="1800" dirty="0"/>
          </a:p>
        </p:txBody>
      </p:sp>
      <p:sp>
        <p:nvSpPr>
          <p:cNvPr id="7" name="text-231"/>
          <p:cNvSpPr txBox="1"/>
          <p:nvPr/>
        </p:nvSpPr>
        <p:spPr>
          <a:xfrm>
            <a:off x="7589520" y="1371600"/>
            <a:ext cx="3886200" cy="658368"/>
          </a:xfrm>
          <a:prstGeom prst="rect">
            <a:avLst/>
          </a:prstGeom>
          <a:noFill/>
          <a:ln/>
        </p:spPr>
        <p:txBody>
          <a:bodyPr wrap="square" lIns="0" tIns="0" rIns="0" bIns="0" rtlCol="0" anchor="ctr"/>
          <a:lstStyle/>
          <a:p>
            <a:pPr indent="0" marL="0">
              <a:buNone/>
            </a:pPr>
            <a:r>
              <a:rPr lang="en-US" sz="1500" dirty="0">
                <a:solidFill>
                  <a:schemeClr val="accent5"/>
                </a:solidFill>
              </a:rPr>
              <a:t>Fee before the loan, look-alike link</a:t>
            </a:r>
            <a:endParaRPr lang="en-US" sz="1500" dirty="0"/>
          </a:p>
        </p:txBody>
      </p:sp>
      <p:sp>
        <p:nvSpPr>
          <p:cNvPr id="8" name="card-232"/>
          <p:cNvSpPr/>
          <p:nvPr/>
        </p:nvSpPr>
        <p:spPr>
          <a:xfrm>
            <a:off x="548640" y="2121408"/>
            <a:ext cx="11091672" cy="658368"/>
          </a:xfrm>
          <a:prstGeom prst="roundRect">
            <a:avLst>
              <a:gd name="adj" fmla="val 11111"/>
            </a:avLst>
          </a:prstGeom>
          <a:solidFill>
            <a:schemeClr val="bg2"/>
          </a:solidFill>
          <a:ln w="12700">
            <a:solidFill>
              <a:schemeClr val="bg2"/>
            </a:solidFill>
            <a:prstDash val="solid"/>
          </a:ln>
        </p:spPr>
      </p:sp>
      <p:sp>
        <p:nvSpPr>
          <p:cNvPr id="9" name="text-233"/>
          <p:cNvSpPr txBox="1"/>
          <p:nvPr/>
        </p:nvSpPr>
        <p:spPr>
          <a:xfrm>
            <a:off x="822960" y="2121408"/>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CBEX investment pitch</a:t>
            </a:r>
            <a:endParaRPr lang="en-US" sz="1800" dirty="0"/>
          </a:p>
        </p:txBody>
      </p:sp>
      <p:sp>
        <p:nvSpPr>
          <p:cNvPr id="10" name="verdict-dot-234"/>
          <p:cNvSpPr/>
          <p:nvPr/>
        </p:nvSpPr>
        <p:spPr>
          <a:xfrm>
            <a:off x="5120640" y="2295144"/>
            <a:ext cx="310896" cy="310896"/>
          </a:xfrm>
          <a:prstGeom prst="ellipse">
            <a:avLst/>
          </a:prstGeom>
          <a:solidFill>
            <a:schemeClr val="accent2"/>
          </a:solidFill>
          <a:ln w="12700">
            <a:solidFill>
              <a:schemeClr val="accent2"/>
            </a:solidFill>
            <a:prstDash val="solid"/>
          </a:ln>
        </p:spPr>
      </p:sp>
      <p:sp>
        <p:nvSpPr>
          <p:cNvPr id="11" name="text-235"/>
          <p:cNvSpPr txBox="1"/>
          <p:nvPr/>
        </p:nvSpPr>
        <p:spPr>
          <a:xfrm>
            <a:off x="5577840" y="2121408"/>
            <a:ext cx="2011680" cy="658368"/>
          </a:xfrm>
          <a:prstGeom prst="rect">
            <a:avLst/>
          </a:prstGeom>
          <a:noFill/>
          <a:ln/>
        </p:spPr>
        <p:txBody>
          <a:bodyPr wrap="square" lIns="0" tIns="0" rIns="0" bIns="0" rtlCol="0" anchor="ctr"/>
          <a:lstStyle/>
          <a:p>
            <a:pPr indent="0" marL="0">
              <a:buNone/>
            </a:pPr>
            <a:r>
              <a:rPr lang="en-US" sz="1800" dirty="0">
                <a:solidFill>
                  <a:schemeClr val="tx1"/>
                </a:solidFill>
              </a:rPr>
              <a:t>Scam</a:t>
            </a:r>
            <a:endParaRPr lang="en-US" sz="1800" dirty="0"/>
          </a:p>
        </p:txBody>
      </p:sp>
      <p:sp>
        <p:nvSpPr>
          <p:cNvPr id="12" name="text-236"/>
          <p:cNvSpPr txBox="1"/>
          <p:nvPr/>
        </p:nvSpPr>
        <p:spPr>
          <a:xfrm>
            <a:off x="7589520" y="2121408"/>
            <a:ext cx="3886200" cy="658368"/>
          </a:xfrm>
          <a:prstGeom prst="rect">
            <a:avLst/>
          </a:prstGeom>
          <a:noFill/>
          <a:ln/>
        </p:spPr>
        <p:txBody>
          <a:bodyPr wrap="square" lIns="0" tIns="0" rIns="0" bIns="0" rtlCol="0" anchor="ctr"/>
          <a:lstStyle/>
          <a:p>
            <a:pPr indent="0" marL="0">
              <a:buNone/>
            </a:pPr>
            <a:r>
              <a:rPr lang="en-US" sz="1500" dirty="0">
                <a:solidFill>
                  <a:schemeClr val="accent5"/>
                </a:solidFill>
              </a:rPr>
              <a:t>Cited SEC Nigeria’s own warning page</a:t>
            </a:r>
            <a:endParaRPr lang="en-US" sz="1500" dirty="0"/>
          </a:p>
        </p:txBody>
      </p:sp>
      <p:sp>
        <p:nvSpPr>
          <p:cNvPr id="13" name="card-237"/>
          <p:cNvSpPr/>
          <p:nvPr/>
        </p:nvSpPr>
        <p:spPr>
          <a:xfrm>
            <a:off x="548640" y="2871216"/>
            <a:ext cx="11091672" cy="658368"/>
          </a:xfrm>
          <a:prstGeom prst="roundRect">
            <a:avLst>
              <a:gd name="adj" fmla="val 11111"/>
            </a:avLst>
          </a:prstGeom>
          <a:solidFill>
            <a:schemeClr val="bg2"/>
          </a:solidFill>
          <a:ln w="12700">
            <a:solidFill>
              <a:schemeClr val="bg2"/>
            </a:solidFill>
            <a:prstDash val="solid"/>
          </a:ln>
        </p:spPr>
      </p:sp>
      <p:sp>
        <p:nvSpPr>
          <p:cNvPr id="14" name="text-238"/>
          <p:cNvSpPr txBox="1"/>
          <p:nvPr/>
        </p:nvSpPr>
        <p:spPr>
          <a:xfrm>
            <a:off x="822960" y="2871216"/>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Blocklisted phishing link</a:t>
            </a:r>
            <a:endParaRPr lang="en-US" sz="1800" dirty="0"/>
          </a:p>
        </p:txBody>
      </p:sp>
      <p:sp>
        <p:nvSpPr>
          <p:cNvPr id="15" name="verdict-dot-239"/>
          <p:cNvSpPr/>
          <p:nvPr/>
        </p:nvSpPr>
        <p:spPr>
          <a:xfrm>
            <a:off x="5120640" y="3044952"/>
            <a:ext cx="310896" cy="310896"/>
          </a:xfrm>
          <a:prstGeom prst="ellipse">
            <a:avLst/>
          </a:prstGeom>
          <a:solidFill>
            <a:schemeClr val="accent2"/>
          </a:solidFill>
          <a:ln w="12700">
            <a:solidFill>
              <a:schemeClr val="accent2"/>
            </a:solidFill>
            <a:prstDash val="solid"/>
          </a:ln>
        </p:spPr>
      </p:sp>
      <p:sp>
        <p:nvSpPr>
          <p:cNvPr id="16" name="text-240"/>
          <p:cNvSpPr txBox="1"/>
          <p:nvPr/>
        </p:nvSpPr>
        <p:spPr>
          <a:xfrm>
            <a:off x="5577840" y="2871216"/>
            <a:ext cx="2011680" cy="658368"/>
          </a:xfrm>
          <a:prstGeom prst="rect">
            <a:avLst/>
          </a:prstGeom>
          <a:noFill/>
          <a:ln/>
        </p:spPr>
        <p:txBody>
          <a:bodyPr wrap="square" lIns="0" tIns="0" rIns="0" bIns="0" rtlCol="0" anchor="ctr"/>
          <a:lstStyle/>
          <a:p>
            <a:pPr indent="0" marL="0">
              <a:buNone/>
            </a:pPr>
            <a:r>
              <a:rPr lang="en-US" sz="1800" dirty="0">
                <a:solidFill>
                  <a:schemeClr val="tx1"/>
                </a:solidFill>
              </a:rPr>
              <a:t>Scam</a:t>
            </a:r>
            <a:endParaRPr lang="en-US" sz="1800" dirty="0"/>
          </a:p>
        </p:txBody>
      </p:sp>
      <p:sp>
        <p:nvSpPr>
          <p:cNvPr id="17" name="text-241"/>
          <p:cNvSpPr txBox="1"/>
          <p:nvPr/>
        </p:nvSpPr>
        <p:spPr>
          <a:xfrm>
            <a:off x="7589520" y="2871216"/>
            <a:ext cx="3886200" cy="658368"/>
          </a:xfrm>
          <a:prstGeom prst="rect">
            <a:avLst/>
          </a:prstGeom>
          <a:noFill/>
          <a:ln/>
        </p:spPr>
        <p:txBody>
          <a:bodyPr wrap="square" lIns="0" tIns="0" rIns="0" bIns="0" rtlCol="0" anchor="ctr"/>
          <a:lstStyle/>
          <a:p>
            <a:pPr indent="0" marL="0">
              <a:buNone/>
            </a:pPr>
            <a:r>
              <a:rPr lang="en-US" sz="1500" dirty="0">
                <a:solidFill>
                  <a:schemeClr val="accent5"/>
                </a:solidFill>
              </a:rPr>
              <a:t>Found on two blocklists</a:t>
            </a:r>
            <a:endParaRPr lang="en-US" sz="1500" dirty="0"/>
          </a:p>
        </p:txBody>
      </p:sp>
      <p:sp>
        <p:nvSpPr>
          <p:cNvPr id="18" name="card-242"/>
          <p:cNvSpPr/>
          <p:nvPr/>
        </p:nvSpPr>
        <p:spPr>
          <a:xfrm>
            <a:off x="548640" y="3621024"/>
            <a:ext cx="11091672" cy="658368"/>
          </a:xfrm>
          <a:prstGeom prst="roundRect">
            <a:avLst>
              <a:gd name="adj" fmla="val 11111"/>
            </a:avLst>
          </a:prstGeom>
          <a:solidFill>
            <a:schemeClr val="bg2"/>
          </a:solidFill>
          <a:ln w="12700">
            <a:solidFill>
              <a:schemeClr val="bg2"/>
            </a:solidFill>
            <a:prstDash val="solid"/>
          </a:ln>
        </p:spPr>
      </p:sp>
      <p:sp>
        <p:nvSpPr>
          <p:cNvPr id="19" name="text-243"/>
          <p:cNvSpPr txBox="1"/>
          <p:nvPr/>
        </p:nvSpPr>
        <p:spPr>
          <a:xfrm>
            <a:off x="822960" y="3621024"/>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Real GTBank message</a:t>
            </a:r>
            <a:endParaRPr lang="en-US" sz="1800" dirty="0"/>
          </a:p>
        </p:txBody>
      </p:sp>
      <p:sp>
        <p:nvSpPr>
          <p:cNvPr id="20" name="verdict-dot-244"/>
          <p:cNvSpPr/>
          <p:nvPr/>
        </p:nvSpPr>
        <p:spPr>
          <a:xfrm>
            <a:off x="5120640" y="3794760"/>
            <a:ext cx="310896" cy="310896"/>
          </a:xfrm>
          <a:prstGeom prst="ellipse">
            <a:avLst/>
          </a:prstGeom>
          <a:solidFill>
            <a:schemeClr val="accent1"/>
          </a:solidFill>
          <a:ln w="12700">
            <a:solidFill>
              <a:schemeClr val="accent1"/>
            </a:solidFill>
            <a:prstDash val="solid"/>
          </a:ln>
        </p:spPr>
      </p:sp>
      <p:sp>
        <p:nvSpPr>
          <p:cNvPr id="21" name="text-245"/>
          <p:cNvSpPr txBox="1"/>
          <p:nvPr/>
        </p:nvSpPr>
        <p:spPr>
          <a:xfrm>
            <a:off x="5577840" y="3621024"/>
            <a:ext cx="2011680" cy="658368"/>
          </a:xfrm>
          <a:prstGeom prst="rect">
            <a:avLst/>
          </a:prstGeom>
          <a:noFill/>
          <a:ln/>
        </p:spPr>
        <p:txBody>
          <a:bodyPr wrap="square" lIns="0" tIns="0" rIns="0" bIns="0" rtlCol="0" anchor="ctr"/>
          <a:lstStyle/>
          <a:p>
            <a:pPr indent="0" marL="0">
              <a:buNone/>
            </a:pPr>
            <a:r>
              <a:rPr lang="en-US" sz="1800" dirty="0">
                <a:solidFill>
                  <a:schemeClr val="tx1"/>
                </a:solidFill>
              </a:rPr>
              <a:t>Looks genuine</a:t>
            </a:r>
            <a:endParaRPr lang="en-US" sz="1800" dirty="0"/>
          </a:p>
        </p:txBody>
      </p:sp>
      <p:sp>
        <p:nvSpPr>
          <p:cNvPr id="22" name="text-246"/>
          <p:cNvSpPr txBox="1"/>
          <p:nvPr/>
        </p:nvSpPr>
        <p:spPr>
          <a:xfrm>
            <a:off x="7589520" y="3621024"/>
            <a:ext cx="3886200" cy="658368"/>
          </a:xfrm>
          <a:prstGeom prst="rect">
            <a:avLst/>
          </a:prstGeom>
          <a:noFill/>
          <a:ln/>
        </p:spPr>
        <p:txBody>
          <a:bodyPr wrap="square" lIns="0" tIns="0" rIns="0" bIns="0" rtlCol="0" anchor="ctr"/>
          <a:lstStyle/>
          <a:p>
            <a:pPr indent="0" marL="0">
              <a:buNone/>
            </a:pPr>
            <a:r>
              <a:rPr lang="en-US" sz="1500" dirty="0">
                <a:solidFill>
                  <a:schemeClr val="accent5"/>
                </a:solidFill>
              </a:rPr>
              <a:t>Its link is GTBank's real website (gtbank.com)</a:t>
            </a:r>
            <a:endParaRPr lang="en-US" sz="1500" dirty="0"/>
          </a:p>
        </p:txBody>
      </p:sp>
      <p:sp>
        <p:nvSpPr>
          <p:cNvPr id="23" name="card-247"/>
          <p:cNvSpPr/>
          <p:nvPr/>
        </p:nvSpPr>
        <p:spPr>
          <a:xfrm>
            <a:off x="548640" y="4370832"/>
            <a:ext cx="11091672" cy="658368"/>
          </a:xfrm>
          <a:prstGeom prst="roundRect">
            <a:avLst>
              <a:gd name="adj" fmla="val 11111"/>
            </a:avLst>
          </a:prstGeom>
          <a:solidFill>
            <a:schemeClr val="bg2"/>
          </a:solidFill>
          <a:ln w="12700">
            <a:solidFill>
              <a:schemeClr val="bg2"/>
            </a:solidFill>
            <a:prstDash val="solid"/>
          </a:ln>
        </p:spPr>
      </p:sp>
      <p:sp>
        <p:nvSpPr>
          <p:cNvPr id="24" name="text-248"/>
          <p:cNvSpPr txBox="1"/>
          <p:nvPr/>
        </p:nvSpPr>
        <p:spPr>
          <a:xfrm>
            <a:off x="822960" y="4370832"/>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NNPC job message in Pidgin</a:t>
            </a:r>
            <a:endParaRPr lang="en-US" sz="1800" dirty="0"/>
          </a:p>
        </p:txBody>
      </p:sp>
      <p:sp>
        <p:nvSpPr>
          <p:cNvPr id="25" name="verdict-dot-249"/>
          <p:cNvSpPr/>
          <p:nvPr/>
        </p:nvSpPr>
        <p:spPr>
          <a:xfrm>
            <a:off x="5120640" y="4544568"/>
            <a:ext cx="310896" cy="310896"/>
          </a:xfrm>
          <a:prstGeom prst="ellipse">
            <a:avLst/>
          </a:prstGeom>
          <a:solidFill>
            <a:schemeClr val="accent2"/>
          </a:solidFill>
          <a:ln w="12700">
            <a:solidFill>
              <a:schemeClr val="accent2"/>
            </a:solidFill>
            <a:prstDash val="solid"/>
          </a:ln>
        </p:spPr>
      </p:sp>
      <p:sp>
        <p:nvSpPr>
          <p:cNvPr id="26" name="text-250"/>
          <p:cNvSpPr txBox="1"/>
          <p:nvPr/>
        </p:nvSpPr>
        <p:spPr>
          <a:xfrm>
            <a:off x="5577840" y="4370832"/>
            <a:ext cx="2011680" cy="658368"/>
          </a:xfrm>
          <a:prstGeom prst="rect">
            <a:avLst/>
          </a:prstGeom>
          <a:noFill/>
          <a:ln/>
        </p:spPr>
        <p:txBody>
          <a:bodyPr wrap="square" lIns="0" tIns="0" rIns="0" bIns="0" rtlCol="0" anchor="ctr"/>
          <a:lstStyle/>
          <a:p>
            <a:pPr indent="0" marL="0">
              <a:buNone/>
            </a:pPr>
            <a:r>
              <a:rPr lang="en-US" sz="1800" dirty="0">
                <a:solidFill>
                  <a:schemeClr val="tx1"/>
                </a:solidFill>
              </a:rPr>
              <a:t>Scam</a:t>
            </a:r>
            <a:endParaRPr lang="en-US" sz="1800" dirty="0"/>
          </a:p>
        </p:txBody>
      </p:sp>
      <p:sp>
        <p:nvSpPr>
          <p:cNvPr id="27" name="text-251"/>
          <p:cNvSpPr txBox="1"/>
          <p:nvPr/>
        </p:nvSpPr>
        <p:spPr>
          <a:xfrm>
            <a:off x="7589520" y="4370832"/>
            <a:ext cx="3886200" cy="658368"/>
          </a:xfrm>
          <a:prstGeom prst="rect">
            <a:avLst/>
          </a:prstGeom>
          <a:noFill/>
          <a:ln/>
        </p:spPr>
        <p:txBody>
          <a:bodyPr wrap="square" lIns="0" tIns="0" rIns="0" bIns="0" rtlCol="0" anchor="ctr"/>
          <a:lstStyle/>
          <a:p>
            <a:pPr indent="0" marL="0">
              <a:buNone/>
            </a:pPr>
            <a:r>
              <a:rPr lang="en-US" sz="1500" dirty="0">
                <a:solidFill>
                  <a:schemeClr val="accent5"/>
                </a:solidFill>
              </a:rPr>
              <a:t>Replied in Pidgin</a:t>
            </a:r>
            <a:endParaRPr lang="en-US" sz="1500" dirty="0"/>
          </a:p>
        </p:txBody>
      </p:sp>
      <p:sp>
        <p:nvSpPr>
          <p:cNvPr id="28" name="text-252"/>
          <p:cNvSpPr txBox="1"/>
          <p:nvPr/>
        </p:nvSpPr>
        <p:spPr>
          <a:xfrm>
            <a:off x="548640" y="525780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51</a:t>
            </a:r>
            <a:endParaRPr lang="en-US" sz="4400" dirty="0"/>
          </a:p>
        </p:txBody>
      </p:sp>
      <p:sp>
        <p:nvSpPr>
          <p:cNvPr id="29" name="text-253"/>
          <p:cNvSpPr txBox="1"/>
          <p:nvPr/>
        </p:nvSpPr>
        <p:spPr>
          <a:xfrm>
            <a:off x="548640" y="5989320"/>
            <a:ext cx="3566160" cy="365760"/>
          </a:xfrm>
          <a:prstGeom prst="rect">
            <a:avLst/>
          </a:prstGeom>
          <a:noFill/>
          <a:ln/>
        </p:spPr>
        <p:txBody>
          <a:bodyPr wrap="square" lIns="0" tIns="0" rIns="0" bIns="0" rtlCol="0" anchor="t"/>
          <a:lstStyle/>
          <a:p>
            <a:pPr indent="0" marL="0">
              <a:buNone/>
            </a:pPr>
            <a:r>
              <a:rPr lang="en-US" sz="1400" dirty="0">
                <a:solidFill>
                  <a:schemeClr val="tx1"/>
                </a:solidFill>
              </a:rPr>
              <a:t>offline tests</a:t>
            </a:r>
            <a:endParaRPr lang="en-US" sz="1400" dirty="0"/>
          </a:p>
        </p:txBody>
      </p:sp>
      <p:sp>
        <p:nvSpPr>
          <p:cNvPr id="30" name="text-254"/>
          <p:cNvSpPr txBox="1"/>
          <p:nvPr/>
        </p:nvSpPr>
        <p:spPr>
          <a:xfrm>
            <a:off x="4297680" y="525780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7</a:t>
            </a:r>
            <a:endParaRPr lang="en-US" sz="4400" dirty="0"/>
          </a:p>
        </p:txBody>
      </p:sp>
      <p:sp>
        <p:nvSpPr>
          <p:cNvPr id="31" name="text-255"/>
          <p:cNvSpPr txBox="1"/>
          <p:nvPr/>
        </p:nvSpPr>
        <p:spPr>
          <a:xfrm>
            <a:off x="4297680" y="5989320"/>
            <a:ext cx="3566160" cy="365760"/>
          </a:xfrm>
          <a:prstGeom prst="rect">
            <a:avLst/>
          </a:prstGeom>
          <a:noFill/>
          <a:ln/>
        </p:spPr>
        <p:txBody>
          <a:bodyPr wrap="square" lIns="0" tIns="0" rIns="0" bIns="0" rtlCol="0" anchor="t"/>
          <a:lstStyle/>
          <a:p>
            <a:pPr indent="0" marL="0">
              <a:buNone/>
            </a:pPr>
            <a:r>
              <a:rPr lang="en-US" sz="1400" dirty="0">
                <a:solidFill>
                  <a:schemeClr val="tx1"/>
                </a:solidFill>
              </a:rPr>
              <a:t>evidence sources per check</a:t>
            </a:r>
            <a:endParaRPr lang="en-US" sz="1400" dirty="0"/>
          </a:p>
        </p:txBody>
      </p:sp>
      <p:sp>
        <p:nvSpPr>
          <p:cNvPr id="32" name="text-256"/>
          <p:cNvSpPr txBox="1"/>
          <p:nvPr/>
        </p:nvSpPr>
        <p:spPr>
          <a:xfrm>
            <a:off x="8046720" y="5257800"/>
            <a:ext cx="3566160" cy="731520"/>
          </a:xfrm>
          <a:prstGeom prst="rect">
            <a:avLst/>
          </a:prstGeom>
          <a:noFill/>
          <a:ln/>
        </p:spPr>
        <p:txBody>
          <a:bodyPr wrap="square" lIns="0" tIns="0" rIns="0" bIns="0" rtlCol="0" anchor="b"/>
          <a:lstStyle/>
          <a:p>
            <a:pPr indent="0" marL="0">
              <a:buNone/>
            </a:pPr>
            <a:r>
              <a:rPr lang="en-US" sz="4400" b="1" dirty="0">
                <a:solidFill>
                  <a:schemeClr val="accent1"/>
                </a:solidFill>
                <a:latin typeface="+mj-lt" pitchFamily="34" charset="0"/>
                <a:ea typeface="+mj-lt" pitchFamily="34" charset="-122"/>
                <a:cs typeface="+mj-lt" pitchFamily="34" charset="-120"/>
              </a:rPr>
              <a:t>153,000+</a:t>
            </a:r>
            <a:endParaRPr lang="en-US" sz="4400" dirty="0"/>
          </a:p>
        </p:txBody>
      </p:sp>
      <p:sp>
        <p:nvSpPr>
          <p:cNvPr id="33" name="text-257"/>
          <p:cNvSpPr txBox="1"/>
          <p:nvPr/>
        </p:nvSpPr>
        <p:spPr>
          <a:xfrm>
            <a:off x="8046720" y="5989320"/>
            <a:ext cx="3566160" cy="365760"/>
          </a:xfrm>
          <a:prstGeom prst="rect">
            <a:avLst/>
          </a:prstGeom>
          <a:noFill/>
          <a:ln/>
        </p:spPr>
        <p:txBody>
          <a:bodyPr wrap="square" lIns="0" tIns="0" rIns="0" bIns="0" rtlCol="0" anchor="t"/>
          <a:lstStyle/>
          <a:p>
            <a:pPr indent="0" marL="0">
              <a:buNone/>
            </a:pPr>
            <a:r>
              <a:rPr lang="en-US" sz="1400" dirty="0">
                <a:solidFill>
                  <a:schemeClr val="tx1"/>
                </a:solidFill>
              </a:rPr>
              <a:t>known phishing sites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bg1"/>
                </a:solidFill>
              </a:rPr>
              <a:t>What’s next</a:t>
            </a:r>
            <a:endParaRPr lang="en-US" sz="3400" dirty="0"/>
          </a:p>
        </p:txBody>
      </p:sp>
      <p:sp>
        <p:nvSpPr>
          <p:cNvPr id="3" name="next-card-258"/>
          <p:cNvSpPr/>
          <p:nvPr/>
        </p:nvSpPr>
        <p:spPr>
          <a:xfrm>
            <a:off x="548640" y="1417320"/>
            <a:ext cx="5349240" cy="1463040"/>
          </a:xfrm>
          <a:prstGeom prst="roundRect">
            <a:avLst>
              <a:gd name="adj" fmla="val 7500"/>
            </a:avLst>
          </a:prstGeom>
          <a:solidFill>
            <a:schemeClr val="bg1">
              <a:alpha val="8000"/>
            </a:schemeClr>
          </a:solidFill>
          <a:ln w="9525">
            <a:solidFill>
              <a:schemeClr val="bg1">
                <a:alpha val="20000"/>
              </a:schemeClr>
            </a:solidFill>
            <a:prstDash val="solid"/>
          </a:ln>
        </p:spPr>
      </p:sp>
      <p:sp>
        <p:nvSpPr>
          <p:cNvPr id="4" name="icon-circle-259"/>
          <p:cNvSpPr/>
          <p:nvPr/>
        </p:nvSpPr>
        <p:spPr>
          <a:xfrm>
            <a:off x="822960" y="1801368"/>
            <a:ext cx="694944" cy="694944"/>
          </a:xfrm>
          <a:prstGeom prst="ellipse">
            <a:avLst/>
          </a:prstGeom>
          <a:solidFill>
            <a:srgbClr val="0B8A4B"/>
          </a:solidFill>
          <a:ln w="12700">
            <a:solidFill>
              <a:srgbClr val="0B8A4B"/>
            </a:solidFill>
            <a:prstDash val="solid"/>
          </a:ln>
        </p:spPr>
      </p:sp>
      <p:pic>
        <p:nvPicPr>
          <p:cNvPr id="5" name="icon-FaMicrophone-260" descr="preencoded.png">    </p:cNvPr>
          <p:cNvPicPr>
            <a:picLocks noChangeAspect="1"/>
          </p:cNvPicPr>
          <p:nvPr/>
        </p:nvPicPr>
        <p:blipFill>
          <a:blip r:embed="rId1"/>
          <a:stretch>
            <a:fillRect/>
          </a:stretch>
        </p:blipFill>
        <p:spPr>
          <a:xfrm>
            <a:off x="996696" y="1975104"/>
            <a:ext cx="347472" cy="347472"/>
          </a:xfrm>
          <a:prstGeom prst="rect">
            <a:avLst/>
          </a:prstGeom>
        </p:spPr>
      </p:pic>
      <p:sp>
        <p:nvSpPr>
          <p:cNvPr id="6" name="text-261"/>
          <p:cNvSpPr txBox="1"/>
          <p:nvPr/>
        </p:nvSpPr>
        <p:spPr>
          <a:xfrm>
            <a:off x="1737360" y="1417320"/>
            <a:ext cx="3977640" cy="1463040"/>
          </a:xfrm>
          <a:prstGeom prst="rect">
            <a:avLst/>
          </a:prstGeom>
          <a:noFill/>
          <a:ln/>
        </p:spPr>
        <p:txBody>
          <a:bodyPr wrap="square" lIns="0" tIns="0" rIns="0" bIns="0" rtlCol="0" anchor="ctr"/>
          <a:lstStyle/>
          <a:p>
            <a:pPr indent="0" marL="0">
              <a:buNone/>
            </a:pPr>
            <a:r>
              <a:rPr lang="en-US" sz="1800" b="1" dirty="0">
                <a:solidFill>
                  <a:schemeClr val="bg1"/>
                </a:solidFill>
              </a:rPr>
              <a:t>Read screenshots and voice notes</a:t>
            </a:r>
            <a:endParaRPr lang="en-US" sz="1600" dirty="0"/>
          </a:p>
          <a:p>
            <a:pPr indent="0" marL="0">
              <a:buNone/>
            </a:pPr>
            <a:r>
              <a:rPr lang="en-US" sz="1400" dirty="0">
                <a:solidFill>
                  <a:schemeClr val="accent6"/>
                </a:solidFill>
              </a:rPr>
              <a:t>That’s how most scams get forwarded</a:t>
            </a:r>
            <a:endParaRPr lang="en-US" sz="1600" dirty="0"/>
          </a:p>
        </p:txBody>
      </p:sp>
      <p:sp>
        <p:nvSpPr>
          <p:cNvPr id="7" name="next-card-262"/>
          <p:cNvSpPr/>
          <p:nvPr/>
        </p:nvSpPr>
        <p:spPr>
          <a:xfrm>
            <a:off x="6291072" y="1417320"/>
            <a:ext cx="5349240" cy="1463040"/>
          </a:xfrm>
          <a:prstGeom prst="roundRect">
            <a:avLst>
              <a:gd name="adj" fmla="val 7500"/>
            </a:avLst>
          </a:prstGeom>
          <a:solidFill>
            <a:schemeClr val="bg1">
              <a:alpha val="8000"/>
            </a:schemeClr>
          </a:solidFill>
          <a:ln w="9525">
            <a:solidFill>
              <a:schemeClr val="bg1">
                <a:alpha val="20000"/>
              </a:schemeClr>
            </a:solidFill>
            <a:prstDash val="solid"/>
          </a:ln>
        </p:spPr>
      </p:sp>
      <p:sp>
        <p:nvSpPr>
          <p:cNvPr id="8" name="icon-circle-263"/>
          <p:cNvSpPr/>
          <p:nvPr/>
        </p:nvSpPr>
        <p:spPr>
          <a:xfrm>
            <a:off x="6565392" y="1801368"/>
            <a:ext cx="694944" cy="694944"/>
          </a:xfrm>
          <a:prstGeom prst="ellipse">
            <a:avLst/>
          </a:prstGeom>
          <a:solidFill>
            <a:srgbClr val="0B8A4B"/>
          </a:solidFill>
          <a:ln w="12700">
            <a:solidFill>
              <a:srgbClr val="0B8A4B"/>
            </a:solidFill>
            <a:prstDash val="solid"/>
          </a:ln>
        </p:spPr>
      </p:sp>
      <p:pic>
        <p:nvPicPr>
          <p:cNvPr id="9" name="icon-FaBuildingColumns-264" descr="preencoded.png">    </p:cNvPr>
          <p:cNvPicPr>
            <a:picLocks noChangeAspect="1"/>
          </p:cNvPicPr>
          <p:nvPr/>
        </p:nvPicPr>
        <p:blipFill>
          <a:blip r:embed="rId2"/>
          <a:stretch>
            <a:fillRect/>
          </a:stretch>
        </p:blipFill>
        <p:spPr>
          <a:xfrm>
            <a:off x="6739128" y="1975104"/>
            <a:ext cx="347472" cy="347472"/>
          </a:xfrm>
          <a:prstGeom prst="rect">
            <a:avLst/>
          </a:prstGeom>
        </p:spPr>
      </p:pic>
      <p:sp>
        <p:nvSpPr>
          <p:cNvPr id="10" name="text-265"/>
          <p:cNvSpPr txBox="1"/>
          <p:nvPr/>
        </p:nvSpPr>
        <p:spPr>
          <a:xfrm>
            <a:off x="7479792" y="1417320"/>
            <a:ext cx="3977640" cy="1463040"/>
          </a:xfrm>
          <a:prstGeom prst="rect">
            <a:avLst/>
          </a:prstGeom>
          <a:noFill/>
          <a:ln/>
        </p:spPr>
        <p:txBody>
          <a:bodyPr wrap="square" lIns="0" tIns="0" rIns="0" bIns="0" rtlCol="0" anchor="ctr"/>
          <a:lstStyle/>
          <a:p>
            <a:pPr indent="0" marL="0">
              <a:buNone/>
            </a:pPr>
            <a:r>
              <a:rPr lang="en-US" sz="1800" b="1" dirty="0">
                <a:solidFill>
                  <a:schemeClr val="bg1"/>
                </a:solidFill>
              </a:rPr>
              <a:t>Full FCCPC loan-app register and CBN licence lists</a:t>
            </a:r>
            <a:endParaRPr lang="en-US" sz="1600" dirty="0"/>
          </a:p>
          <a:p>
            <a:pPr indent="0" marL="0">
              <a:buNone/>
            </a:pPr>
            <a:r>
              <a:rPr lang="en-US" sz="1400" dirty="0">
                <a:solidFill>
                  <a:schemeClr val="accent6"/>
                </a:solidFill>
              </a:rPr>
              <a:t>As more Zetaris tables</a:t>
            </a:r>
            <a:endParaRPr lang="en-US" sz="1600" dirty="0"/>
          </a:p>
        </p:txBody>
      </p:sp>
      <p:sp>
        <p:nvSpPr>
          <p:cNvPr id="11" name="next-card-266"/>
          <p:cNvSpPr/>
          <p:nvPr/>
        </p:nvSpPr>
        <p:spPr>
          <a:xfrm>
            <a:off x="548640" y="3154680"/>
            <a:ext cx="5349240" cy="1463040"/>
          </a:xfrm>
          <a:prstGeom prst="roundRect">
            <a:avLst>
              <a:gd name="adj" fmla="val 7500"/>
            </a:avLst>
          </a:prstGeom>
          <a:solidFill>
            <a:schemeClr val="bg1">
              <a:alpha val="8000"/>
            </a:schemeClr>
          </a:solidFill>
          <a:ln w="9525">
            <a:solidFill>
              <a:schemeClr val="bg1">
                <a:alpha val="20000"/>
              </a:schemeClr>
            </a:solidFill>
            <a:prstDash val="solid"/>
          </a:ln>
        </p:spPr>
      </p:sp>
      <p:sp>
        <p:nvSpPr>
          <p:cNvPr id="12" name="icon-circle-267"/>
          <p:cNvSpPr/>
          <p:nvPr/>
        </p:nvSpPr>
        <p:spPr>
          <a:xfrm>
            <a:off x="822960" y="3538728"/>
            <a:ext cx="694944" cy="694944"/>
          </a:xfrm>
          <a:prstGeom prst="ellipse">
            <a:avLst/>
          </a:prstGeom>
          <a:solidFill>
            <a:srgbClr val="0B8A4B"/>
          </a:solidFill>
          <a:ln w="12700">
            <a:solidFill>
              <a:srgbClr val="0B8A4B"/>
            </a:solidFill>
            <a:prstDash val="solid"/>
          </a:ln>
        </p:spPr>
      </p:sp>
      <p:pic>
        <p:nvPicPr>
          <p:cNvPr id="13" name="icon-FaWhatsapp-268" descr="preencoded.png">    </p:cNvPr>
          <p:cNvPicPr>
            <a:picLocks noChangeAspect="1"/>
          </p:cNvPicPr>
          <p:nvPr/>
        </p:nvPicPr>
        <p:blipFill>
          <a:blip r:embed="rId3"/>
          <a:stretch>
            <a:fillRect/>
          </a:stretch>
        </p:blipFill>
        <p:spPr>
          <a:xfrm>
            <a:off x="996696" y="3712464"/>
            <a:ext cx="347472" cy="347472"/>
          </a:xfrm>
          <a:prstGeom prst="rect">
            <a:avLst/>
          </a:prstGeom>
        </p:spPr>
      </p:pic>
      <p:sp>
        <p:nvSpPr>
          <p:cNvPr id="14" name="text-269"/>
          <p:cNvSpPr txBox="1"/>
          <p:nvPr/>
        </p:nvSpPr>
        <p:spPr>
          <a:xfrm>
            <a:off x="1737360" y="3154680"/>
            <a:ext cx="3977640" cy="1463040"/>
          </a:xfrm>
          <a:prstGeom prst="rect">
            <a:avLst/>
          </a:prstGeom>
          <a:noFill/>
          <a:ln/>
        </p:spPr>
        <p:txBody>
          <a:bodyPr wrap="square" lIns="0" tIns="0" rIns="0" bIns="0" rtlCol="0" anchor="ctr"/>
          <a:lstStyle/>
          <a:p>
            <a:pPr indent="0" marL="0">
              <a:buNone/>
            </a:pPr>
            <a:r>
              <a:rPr lang="en-US" sz="1800" b="1" dirty="0">
                <a:solidFill>
                  <a:schemeClr val="bg1"/>
                </a:solidFill>
              </a:rPr>
              <a:t>A public WhatsApp number</a:t>
            </a:r>
            <a:endParaRPr lang="en-US" sz="1600" dirty="0"/>
          </a:p>
          <a:p>
            <a:pPr indent="0" marL="0">
              <a:buNone/>
            </a:pPr>
            <a:r>
              <a:rPr lang="en-US" sz="1400" dirty="0">
                <a:solidFill>
                  <a:schemeClr val="accent6"/>
                </a:solidFill>
              </a:rPr>
              <a:t>Anyone in Nigeria can save it</a:t>
            </a:r>
            <a:endParaRPr lang="en-US" sz="1600" dirty="0"/>
          </a:p>
        </p:txBody>
      </p:sp>
      <p:sp>
        <p:nvSpPr>
          <p:cNvPr id="15" name="next-card-270"/>
          <p:cNvSpPr/>
          <p:nvPr/>
        </p:nvSpPr>
        <p:spPr>
          <a:xfrm>
            <a:off x="6291072" y="3154680"/>
            <a:ext cx="5349240" cy="1463040"/>
          </a:xfrm>
          <a:prstGeom prst="roundRect">
            <a:avLst>
              <a:gd name="adj" fmla="val 7500"/>
            </a:avLst>
          </a:prstGeom>
          <a:solidFill>
            <a:schemeClr val="bg1">
              <a:alpha val="8000"/>
            </a:schemeClr>
          </a:solidFill>
          <a:ln w="9525">
            <a:solidFill>
              <a:schemeClr val="bg1">
                <a:alpha val="20000"/>
              </a:schemeClr>
            </a:solidFill>
            <a:prstDash val="solid"/>
          </a:ln>
        </p:spPr>
      </p:sp>
      <p:sp>
        <p:nvSpPr>
          <p:cNvPr id="16" name="icon-circle-271"/>
          <p:cNvSpPr/>
          <p:nvPr/>
        </p:nvSpPr>
        <p:spPr>
          <a:xfrm>
            <a:off x="6565392" y="3538728"/>
            <a:ext cx="694944" cy="694944"/>
          </a:xfrm>
          <a:prstGeom prst="ellipse">
            <a:avLst/>
          </a:prstGeom>
          <a:solidFill>
            <a:srgbClr val="0B8A4B"/>
          </a:solidFill>
          <a:ln w="12700">
            <a:solidFill>
              <a:srgbClr val="0B8A4B"/>
            </a:solidFill>
            <a:prstDash val="solid"/>
          </a:ln>
        </p:spPr>
      </p:sp>
      <p:pic>
        <p:nvPicPr>
          <p:cNvPr id="17" name="icon-FaHandshake-272" descr="preencoded.png">    </p:cNvPr>
          <p:cNvPicPr>
            <a:picLocks noChangeAspect="1"/>
          </p:cNvPicPr>
          <p:nvPr/>
        </p:nvPicPr>
        <p:blipFill>
          <a:blip r:embed="rId4"/>
          <a:stretch>
            <a:fillRect/>
          </a:stretch>
        </p:blipFill>
        <p:spPr>
          <a:xfrm>
            <a:off x="6739128" y="3712464"/>
            <a:ext cx="347472" cy="347472"/>
          </a:xfrm>
          <a:prstGeom prst="rect">
            <a:avLst/>
          </a:prstGeom>
        </p:spPr>
      </p:pic>
      <p:sp>
        <p:nvSpPr>
          <p:cNvPr id="18" name="text-273"/>
          <p:cNvSpPr txBox="1"/>
          <p:nvPr/>
        </p:nvSpPr>
        <p:spPr>
          <a:xfrm>
            <a:off x="7479792" y="3154680"/>
            <a:ext cx="3977640" cy="1463040"/>
          </a:xfrm>
          <a:prstGeom prst="rect">
            <a:avLst/>
          </a:prstGeom>
          <a:noFill/>
          <a:ln/>
        </p:spPr>
        <p:txBody>
          <a:bodyPr wrap="square" lIns="0" tIns="0" rIns="0" bIns="0" rtlCol="0" anchor="ctr"/>
          <a:lstStyle/>
          <a:p>
            <a:pPr indent="0" marL="0">
              <a:buNone/>
            </a:pPr>
            <a:r>
              <a:rPr lang="en-US" sz="1800" b="1" dirty="0">
                <a:solidFill>
                  <a:schemeClr val="bg1"/>
                </a:solidFill>
              </a:rPr>
              <a:t>Partnerships with banks and fintechs</a:t>
            </a:r>
            <a:endParaRPr lang="en-US" sz="1600" dirty="0"/>
          </a:p>
          <a:p>
            <a:pPr indent="0" marL="0">
              <a:buNone/>
            </a:pPr>
            <a:r>
              <a:rPr lang="en-US" sz="1400" dirty="0">
                <a:solidFill>
                  <a:schemeClr val="accent6"/>
                </a:solidFill>
              </a:rPr>
              <a:t>Their customers are the ones being impersonated</a:t>
            </a:r>
            <a:endParaRPr lang="en-US" sz="1600" dirty="0"/>
          </a:p>
        </p:txBody>
      </p:sp>
      <p:sp>
        <p:nvSpPr>
          <p:cNvPr id="19" name="text-274"/>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2000" b="1" dirty="0">
                <a:solidFill>
                  <a:schemeClr val="bg1"/>
                </a:solidFill>
              </a:rPr>
              <a:t>Try it: </a:t>
            </a:r>
            <a:pPr indent="0" marL="0">
              <a:buNone/>
            </a:pPr>
            <a:r>
              <a:rPr lang="en-US" sz="2000" dirty="0">
                <a:solidFill>
                  <a:schemeClr val="bg1"/>
                </a:solidFill>
              </a:rPr>
              <a:t>@checkamoutbot on Telegram     </a:t>
            </a:r>
            <a:pPr indent="0" marL="0">
              <a:buNone/>
            </a:pPr>
            <a:r>
              <a:rPr lang="en-US" sz="2000" b="1" dirty="0">
                <a:solidFill>
                  <a:schemeClr val="bg1"/>
                </a:solidFill>
              </a:rPr>
              <a:t>Code: </a:t>
            </a:r>
            <a:pPr indent="0" marL="0">
              <a:buNone/>
            </a:pPr>
            <a:r>
              <a:rPr lang="en-US" sz="2000" dirty="0">
                <a:solidFill>
                  <a:schemeClr val="bg1"/>
                </a:solidFill>
              </a:rPr>
              <a:t>github.com/Okorodavid/checkam (MIT)</a:t>
            </a:r>
            <a:endParaRPr lang="en-US" sz="2000" dirty="0"/>
          </a:p>
        </p:txBody>
      </p:sp>
      <p:sp>
        <p:nvSpPr>
          <p:cNvPr id="20" name="text-275"/>
          <p:cNvSpPr txBox="1"/>
          <p:nvPr/>
        </p:nvSpPr>
        <p:spPr>
          <a:xfrm>
            <a:off x="548640" y="571500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David Okoro · Enugu, Nigeria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heckAm">
  <a:themeElements>
    <a:clrScheme name="CheckAm">
      <a:dk1>
        <a:srgbClr val="111A15"/>
      </a:dk1>
      <a:lt1>
        <a:srgbClr val="FFFFFF"/>
      </a:lt1>
      <a:dk2>
        <a:srgbClr val="0D2B1F"/>
      </a:dk2>
      <a:lt2>
        <a:srgbClr val="EDF3EF"/>
      </a:lt2>
      <a:accent1>
        <a:srgbClr val="0B8A4B"/>
      </a:accent1>
      <a:accent2>
        <a:srgbClr val="D7263D"/>
      </a:accent2>
      <a:accent3>
        <a:srgbClr val="EE7F1A"/>
      </a:accent3>
      <a:accent4>
        <a:srgbClr val="E8B416"/>
      </a:accent4>
      <a:accent5>
        <a:srgbClr val="5E6E66"/>
      </a:accent5>
      <a:accent6>
        <a:srgbClr val="C9D9CF"/>
      </a:accent6>
      <a:hlink>
        <a:srgbClr val="0B8A4B"/>
      </a:hlink>
      <a:folHlink>
        <a:srgbClr val="0D2B1F"/>
      </a:folHlink>
    </a:clrScheme>
    <a:fontScheme name="Check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CheckAm</dc:title>
  <dc:subject>PptxGenJS Presentation</dc:subject>
  <dc:creator>David Okoro</dc:creator>
  <cp:lastModifiedBy>David Okoro</cp:lastModifiedBy>
  <cp:revision>1</cp:revision>
  <dcterms:created xsi:type="dcterms:W3CDTF">2026-10-27T16:27:52Z</dcterms:created>
  <dcterms:modified xsi:type="dcterms:W3CDTF">2026-10-27T16:27:53Z</dcterms:modified>
</cp:coreProperties>
</file>